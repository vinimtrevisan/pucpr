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1"/>
    <p:restoredTop sz="94610"/>
  </p:normalViewPr>
  <p:slideViewPr>
    <p:cSldViewPr snapToGrid="0" snapToObjects="1">
      <p:cViewPr varScale="1">
        <p:scale>
          <a:sx n="129" d="100"/>
          <a:sy n="129" d="100"/>
        </p:scale>
        <p:origin x="208" y="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3161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da Informação  ·  PUC-PR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73152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141732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Leis, Normas e Padrões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365760" y="228600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Privacidade · Confiabilidade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365760" y="2926080"/>
            <a:ext cx="5029200" cy="36576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365760" y="3063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Interno de Automação · Vivo / Telefônica Brasil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65760" y="37490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Guilherme Reis</a:t>
            </a:r>
          </a:p>
          <a:p>
            <a:pPr marL="0" indent="0" algn="l">
              <a:buNone/>
            </a:pPr>
            <a:r>
              <a:rPr lang="en-US" sz="130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Nicolas Lobo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Vinicius Trevisan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6576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Luis Gonzaga de Paulo  ·  Maio 2025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858000" y="274320"/>
            <a:ext cx="2560320" cy="2560320"/>
          </a:xfrm>
          <a:prstGeom prst="ellipse">
            <a:avLst/>
          </a:prstGeom>
          <a:solidFill>
            <a:srgbClr val="1B4F8A">
              <a:alpha val="25000"/>
            </a:srgbClr>
          </a:solidFill>
          <a:ln w="12700">
            <a:solidFill>
              <a:srgbClr val="1B4F8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7315200" y="822960"/>
            <a:ext cx="1645920" cy="1645920"/>
          </a:xfrm>
          <a:prstGeom prst="ellipse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0" y="105156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8288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Projeto — Caso Real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20040" y="10515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Interno de Automação · Vivo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320040" y="1508760"/>
            <a:ext cx="4754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Único desenvolvedor </a:t>
            </a:r>
            <a:r>
              <a:rPr lang="en-US" sz="130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responsável</a:t>
            </a: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</a:t>
            </a: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 </a:t>
            </a:r>
            <a:r>
              <a:rPr lang="en-US" sz="130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</a:t>
            </a: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 dados pessoais de dezenas de milhares de clientes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Robôs RPA automatizam tarefas em sistemas legados da Vivo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web usado por equipes distribuídas via SSO corporativo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0" y="1005840"/>
            <a:ext cx="3291840" cy="822960"/>
          </a:xfrm>
          <a:prstGeom prst="rect">
            <a:avLst/>
          </a:prstGeom>
          <a:solidFill>
            <a:srgbClr val="F0F4FA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5"/>
          <p:cNvSpPr/>
          <p:nvPr/>
        </p:nvSpPr>
        <p:spPr>
          <a:xfrm>
            <a:off x="5486400" y="1005840"/>
            <a:ext cx="91440" cy="82296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5650992" y="105156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/ React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650992" y="14173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Web Interno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486400" y="1965960"/>
            <a:ext cx="3291840" cy="822960"/>
          </a:xfrm>
          <a:prstGeom prst="rect">
            <a:avLst/>
          </a:prstGeom>
          <a:solidFill>
            <a:srgbClr val="F0F4FA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5486400" y="1965960"/>
            <a:ext cx="91440" cy="8229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5650992" y="201168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Flask/FastAPI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650992" y="23774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APIs REST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486400" y="2926080"/>
            <a:ext cx="3291840" cy="822960"/>
          </a:xfrm>
          <a:prstGeom prst="rect">
            <a:avLst/>
          </a:prstGeom>
          <a:solidFill>
            <a:srgbClr val="F0F4FA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Shape 13"/>
          <p:cNvSpPr/>
          <p:nvPr/>
        </p:nvSpPr>
        <p:spPr>
          <a:xfrm>
            <a:off x="5486400" y="2926080"/>
            <a:ext cx="91440" cy="822960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5650992" y="297180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+ Python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650992" y="33375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Robôs RPA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486400" y="3886200"/>
            <a:ext cx="3291840" cy="822960"/>
          </a:xfrm>
          <a:prstGeom prst="rect">
            <a:avLst/>
          </a:prstGeom>
          <a:solidFill>
            <a:srgbClr val="F0F4FA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Shape 17"/>
          <p:cNvSpPr/>
          <p:nvPr/>
        </p:nvSpPr>
        <p:spPr>
          <a:xfrm>
            <a:off x="5486400" y="3886200"/>
            <a:ext cx="91440" cy="822960"/>
          </a:xfrm>
          <a:prstGeom prst="rect">
            <a:avLst/>
          </a:prstGeom>
          <a:solidFill>
            <a:srgbClr val="4A4A8A"/>
          </a:solidFill>
          <a:ln w="12700">
            <a:solidFill>
              <a:srgbClr val="4A4A8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8"/>
          <p:cNvSpPr/>
          <p:nvPr/>
        </p:nvSpPr>
        <p:spPr>
          <a:xfrm>
            <a:off x="5650992" y="393192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/ PostgreSQL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650992" y="42976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da Informação · PUC-PR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8288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Riscos de </a:t>
            </a: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Privacidade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274320" y="1005840"/>
            <a:ext cx="4206240" cy="1005840"/>
          </a:xfrm>
          <a:prstGeom prst="rect">
            <a:avLst/>
          </a:prstGeom>
          <a:solidFill>
            <a:srgbClr val="FFF0F0"/>
          </a:solidFill>
          <a:ln w="12700">
            <a:solidFill>
              <a:srgbClr val="FF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Shape 3"/>
          <p:cNvSpPr/>
          <p:nvPr/>
        </p:nvSpPr>
        <p:spPr>
          <a:xfrm>
            <a:off x="274320" y="1005840"/>
            <a:ext cx="502920" cy="10058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274320" y="100584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41248" y="10515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minimization ausente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41248" y="13716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Robôs recuperam conjuntos completos de dados quando poderiam operar apenas com campos necessários, ampliando exposição.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74320" y="2194560"/>
            <a:ext cx="4206240" cy="1005840"/>
          </a:xfrm>
          <a:prstGeom prst="rect">
            <a:avLst/>
          </a:prstGeom>
          <a:solidFill>
            <a:srgbClr val="FFF0F0"/>
          </a:solidFill>
          <a:ln w="12700">
            <a:solidFill>
              <a:srgbClr val="FF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274320" y="2194560"/>
            <a:ext cx="502920" cy="10058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274320" y="219456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41248" y="22402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de auditoria insuficiente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41248" y="256032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há rastreabilidade granular de quais dados pessoais foram acessados, dificultando resposta a incidentes (LGPD art. 37).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274320" y="3383280"/>
            <a:ext cx="4206240" cy="1005840"/>
          </a:xfrm>
          <a:prstGeom prst="rect">
            <a:avLst/>
          </a:prstGeom>
          <a:solidFill>
            <a:srgbClr val="FFF0F0"/>
          </a:solidFill>
          <a:ln w="12700">
            <a:solidFill>
              <a:srgbClr val="FF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Shape 13"/>
          <p:cNvSpPr/>
          <p:nvPr/>
        </p:nvSpPr>
        <p:spPr>
          <a:xfrm>
            <a:off x="274320" y="3383280"/>
            <a:ext cx="502920" cy="10058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274320" y="33832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41248" y="34290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Retenção indefinida em staging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841248" y="374904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pessoais em tabelas temporárias sem política de expiração. LGPD art. 15 exige descarte após finalidade cumprida.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709160" y="1005840"/>
            <a:ext cx="4206240" cy="1005840"/>
          </a:xfrm>
          <a:prstGeom prst="rect">
            <a:avLst/>
          </a:prstGeom>
          <a:solidFill>
            <a:srgbClr val="FFF0F0"/>
          </a:solidFill>
          <a:ln w="12700">
            <a:solidFill>
              <a:srgbClr val="FF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Shape 18"/>
          <p:cNvSpPr/>
          <p:nvPr/>
        </p:nvSpPr>
        <p:spPr>
          <a:xfrm>
            <a:off x="4709160" y="1005840"/>
            <a:ext cx="502920" cy="10058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19"/>
          <p:cNvSpPr/>
          <p:nvPr/>
        </p:nvSpPr>
        <p:spPr>
          <a:xfrm>
            <a:off x="4709160" y="100584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5276088" y="10515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Credenciais em texto plano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276088" y="13716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Versões anteriores dos scripts armazenaram credenciais hard-coded, risco de reintrodução sem revisão formal de segurança.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4709160" y="2194560"/>
            <a:ext cx="4206240" cy="1005840"/>
          </a:xfrm>
          <a:prstGeom prst="rect">
            <a:avLst/>
          </a:prstGeom>
          <a:solidFill>
            <a:srgbClr val="FFF0F0"/>
          </a:solidFill>
          <a:ln w="12700">
            <a:solidFill>
              <a:srgbClr val="FF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6" name="Shape 23"/>
          <p:cNvSpPr/>
          <p:nvPr/>
        </p:nvSpPr>
        <p:spPr>
          <a:xfrm>
            <a:off x="4709160" y="2194560"/>
            <a:ext cx="502920" cy="10058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4"/>
          <p:cNvSpPr/>
          <p:nvPr/>
        </p:nvSpPr>
        <p:spPr>
          <a:xfrm>
            <a:off x="4709160" y="219456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5276088" y="22402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Parceiros sem DPIA verificada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5276088" y="256032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enviados a APIs de parceiros sem verificação de conformidade LGPD, expondo a empresa a responsabilidade solidária.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da Informação · PUC-PR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8288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Riscos de </a:t>
            </a: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Confiabilidade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274320" y="1005840"/>
            <a:ext cx="4206240" cy="1005840"/>
          </a:xfrm>
          <a:prstGeom prst="rect">
            <a:avLst/>
          </a:prstGeom>
          <a:solidFill>
            <a:srgbClr val="FFFBF0"/>
          </a:solidFill>
          <a:ln w="12700">
            <a:solidFill>
              <a:srgbClr val="FFE0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Shape 3"/>
          <p:cNvSpPr/>
          <p:nvPr/>
        </p:nvSpPr>
        <p:spPr>
          <a:xfrm>
            <a:off x="274320" y="1005840"/>
            <a:ext cx="502920" cy="10058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274320" y="100584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R6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41248" y="10515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B4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único de falha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41248" y="13716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mantido por 1 desenvolvedor, sem documentação suficiente para outro assumir. Risco operacional crítico.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74320" y="2194560"/>
            <a:ext cx="4206240" cy="1005840"/>
          </a:xfrm>
          <a:prstGeom prst="rect">
            <a:avLst/>
          </a:prstGeom>
          <a:solidFill>
            <a:srgbClr val="FFFBF0"/>
          </a:solidFill>
          <a:ln w="12700">
            <a:solidFill>
              <a:srgbClr val="FFE0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274320" y="2194560"/>
            <a:ext cx="502920" cy="10058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274320" y="219456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R7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41248" y="22402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B4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homologação formal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41248" y="256032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existe ambiente espelhando produção. Atualizações vão direto de local para produção, aumentando risco de falhas.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274320" y="3383280"/>
            <a:ext cx="4206240" cy="1005840"/>
          </a:xfrm>
          <a:prstGeom prst="rect">
            <a:avLst/>
          </a:prstGeom>
          <a:solidFill>
            <a:srgbClr val="FFFBF0"/>
          </a:solidFill>
          <a:ln w="12700">
            <a:solidFill>
              <a:srgbClr val="FFE0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Shape 13"/>
          <p:cNvSpPr/>
          <p:nvPr/>
        </p:nvSpPr>
        <p:spPr>
          <a:xfrm>
            <a:off x="274320" y="3383280"/>
            <a:ext cx="502920" cy="10058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274320" y="33832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R8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41248" y="34290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B4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 reativo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841248" y="374904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Falhas detectadas só quando usuário reporta problema. Sem alertas proativos ou dashboard de saúde dos processos.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709160" y="1005840"/>
            <a:ext cx="4206240" cy="1005840"/>
          </a:xfrm>
          <a:prstGeom prst="rect">
            <a:avLst/>
          </a:prstGeom>
          <a:solidFill>
            <a:srgbClr val="FFFBF0"/>
          </a:solidFill>
          <a:ln w="12700">
            <a:solidFill>
              <a:srgbClr val="FFE0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Shape 18"/>
          <p:cNvSpPr/>
          <p:nvPr/>
        </p:nvSpPr>
        <p:spPr>
          <a:xfrm>
            <a:off x="4709160" y="1005840"/>
            <a:ext cx="502920" cy="10058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19"/>
          <p:cNvSpPr/>
          <p:nvPr/>
        </p:nvSpPr>
        <p:spPr>
          <a:xfrm>
            <a:off x="4709160" y="100584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R9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276088" y="10515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B4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Dependência de legados sem SLA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276088" y="13716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Robôs dependem de sistemas legados sem SLA interno. Indisponibilidade causa falha em cascata sem retry/circuit breaker.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4709160" y="2194560"/>
            <a:ext cx="4206240" cy="1005840"/>
          </a:xfrm>
          <a:prstGeom prst="rect">
            <a:avLst/>
          </a:prstGeom>
          <a:solidFill>
            <a:srgbClr val="FFFBF0"/>
          </a:solidFill>
          <a:ln w="12700">
            <a:solidFill>
              <a:srgbClr val="FFE0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6" name="Shape 23"/>
          <p:cNvSpPr/>
          <p:nvPr/>
        </p:nvSpPr>
        <p:spPr>
          <a:xfrm>
            <a:off x="4709160" y="2194560"/>
            <a:ext cx="502920" cy="10058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4"/>
          <p:cNvSpPr/>
          <p:nvPr/>
        </p:nvSpPr>
        <p:spPr>
          <a:xfrm>
            <a:off x="4709160" y="219456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R10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5276088" y="22402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B4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DR não testado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5276088" y="256032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existe via infraestrutura corporativa, mas restauração específica da aplicação nunca foi validada em prática.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da Informação · PUC-PR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8288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Regulamentações Aplicáveis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164592" y="1051560"/>
            <a:ext cx="2743200" cy="1645920"/>
          </a:xfrm>
          <a:prstGeom prst="rect">
            <a:avLst/>
          </a:prstGeom>
          <a:solidFill>
            <a:srgbClr val="1A2A3A"/>
          </a:solidFill>
          <a:ln w="25400">
            <a:solidFill>
              <a:srgbClr val="1B4F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Shape 3"/>
          <p:cNvSpPr/>
          <p:nvPr/>
        </p:nvSpPr>
        <p:spPr>
          <a:xfrm>
            <a:off x="164592" y="1051560"/>
            <a:ext cx="2743200" cy="438912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164592" y="1051560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LGPD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673352" y="1051560"/>
            <a:ext cx="123444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 13.709/2018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256032" y="1527048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norma. Data minimization, logs de tratamento, notificação de incidentes (≤72h), direitos dos titulares.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118104" y="1051560"/>
            <a:ext cx="2743200" cy="1645920"/>
          </a:xfrm>
          <a:prstGeom prst="rect">
            <a:avLst/>
          </a:prstGeom>
          <a:solidFill>
            <a:srgbClr val="1A2A3A"/>
          </a:solidFill>
          <a:ln w="254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3118104" y="1051560"/>
            <a:ext cx="2743200" cy="43891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3118104" y="1051560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MCI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626864" y="1051560"/>
            <a:ext cx="123444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 12.965/2014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209544" y="1527048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Civil da Internet. Guarda de logs de acesso por 6 meses (conexão) a 1 ano (aplicação).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071616" y="1051560"/>
            <a:ext cx="2743200" cy="1645920"/>
          </a:xfrm>
          <a:prstGeom prst="rect">
            <a:avLst/>
          </a:prstGeom>
          <a:solidFill>
            <a:srgbClr val="1A2A3A"/>
          </a:solidFill>
          <a:ln w="25400">
            <a:solidFill>
              <a:srgbClr val="4A4A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Shape 13"/>
          <p:cNvSpPr/>
          <p:nvPr/>
        </p:nvSpPr>
        <p:spPr>
          <a:xfrm>
            <a:off x="6071616" y="1051560"/>
            <a:ext cx="2743200" cy="438912"/>
          </a:xfrm>
          <a:prstGeom prst="rect">
            <a:avLst/>
          </a:prstGeom>
          <a:solidFill>
            <a:srgbClr val="4A4A8A"/>
          </a:solidFill>
          <a:ln w="12700">
            <a:solidFill>
              <a:srgbClr val="4A4A8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6071616" y="1051560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27001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580376" y="1051560"/>
            <a:ext cx="123444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SGSI — Requisitos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6163056" y="1527048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Gestão de Segurança da Informação. Controle de acesso, gestão de incidentes, desenvolvimento seguro.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1645920" y="2926080"/>
            <a:ext cx="2743200" cy="1645920"/>
          </a:xfrm>
          <a:prstGeom prst="rect">
            <a:avLst/>
          </a:prstGeom>
          <a:solidFill>
            <a:srgbClr val="1A2A3A"/>
          </a:solidFill>
          <a:ln w="25400">
            <a:solidFill>
              <a:srgbClr val="5A7A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Shape 18"/>
          <p:cNvSpPr/>
          <p:nvPr/>
        </p:nvSpPr>
        <p:spPr>
          <a:xfrm>
            <a:off x="1645920" y="2926080"/>
            <a:ext cx="2743200" cy="438912"/>
          </a:xfrm>
          <a:prstGeom prst="rect">
            <a:avLst/>
          </a:prstGeom>
          <a:solidFill>
            <a:srgbClr val="5A7A3A"/>
          </a:solidFill>
          <a:ln w="12700">
            <a:solidFill>
              <a:srgbClr val="5A7A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19"/>
          <p:cNvSpPr/>
          <p:nvPr/>
        </p:nvSpPr>
        <p:spPr>
          <a:xfrm>
            <a:off x="1645920" y="2926080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27002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3154680" y="2926080"/>
            <a:ext cx="123444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Controles de Segurança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737360" y="3401568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Criptografia TLS 1.2+, gestão de vulnerabilidades, backup, SSDLC, revisão de código com foco em segurança.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617720" y="2926080"/>
            <a:ext cx="2743200" cy="1645920"/>
          </a:xfrm>
          <a:prstGeom prst="rect">
            <a:avLst/>
          </a:prstGeom>
          <a:solidFill>
            <a:srgbClr val="1A2A3A"/>
          </a:solidFill>
          <a:ln w="25400">
            <a:solidFill>
              <a:srgbClr val="8A3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6" name="Shape 23"/>
          <p:cNvSpPr/>
          <p:nvPr/>
        </p:nvSpPr>
        <p:spPr>
          <a:xfrm>
            <a:off x="4617720" y="2926080"/>
            <a:ext cx="2743200" cy="438912"/>
          </a:xfrm>
          <a:prstGeom prst="rect">
            <a:avLst/>
          </a:prstGeom>
          <a:solidFill>
            <a:srgbClr val="8A3A4A"/>
          </a:solidFill>
          <a:ln w="12700">
            <a:solidFill>
              <a:srgbClr val="8A3A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4"/>
          <p:cNvSpPr/>
          <p:nvPr/>
        </p:nvSpPr>
        <p:spPr>
          <a:xfrm>
            <a:off x="4617720" y="2926080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ANATEL 740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6126480" y="2926080"/>
            <a:ext cx="123444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Resolução 2020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4709160" y="3401568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SGSI obrigatório para telecomunicações. Proteção de infraestrutura crítica, gestão de riscos cibernéticos, notificação à ANATEL.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da Informação · PUC-PR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8288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Controles e Mecanismos Propostos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228600" y="1005840"/>
            <a:ext cx="4206240" cy="658368"/>
          </a:xfrm>
          <a:prstGeom prst="rect">
            <a:avLst/>
          </a:prstGeom>
          <a:solidFill>
            <a:srgbClr val="F0FAF4"/>
          </a:solidFill>
          <a:ln w="12700">
            <a:solidFill>
              <a:srgbClr val="B0DF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Shape 3"/>
          <p:cNvSpPr/>
          <p:nvPr/>
        </p:nvSpPr>
        <p:spPr>
          <a:xfrm>
            <a:off x="228600" y="1005840"/>
            <a:ext cx="438912" cy="658368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228600" y="1005840"/>
            <a:ext cx="438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</a:t>
            </a:r>
            <a:endParaRPr lang="en-US" sz="10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133856"/>
            <a:ext cx="347472" cy="3474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15568" y="104241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Minimization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1115568" y="13716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LGPD Art. 6º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4709160" y="1005840"/>
            <a:ext cx="4206240" cy="658368"/>
          </a:xfrm>
          <a:prstGeom prst="rect">
            <a:avLst/>
          </a:prstGeom>
          <a:solidFill>
            <a:srgbClr val="F0FAF4"/>
          </a:solidFill>
          <a:ln w="12700">
            <a:solidFill>
              <a:srgbClr val="B0DF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8"/>
          <p:cNvSpPr/>
          <p:nvPr/>
        </p:nvSpPr>
        <p:spPr>
          <a:xfrm>
            <a:off x="4709160" y="1005840"/>
            <a:ext cx="438912" cy="658368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9"/>
          <p:cNvSpPr/>
          <p:nvPr/>
        </p:nvSpPr>
        <p:spPr>
          <a:xfrm>
            <a:off x="4709160" y="1005840"/>
            <a:ext cx="438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</a:t>
            </a:r>
            <a:endParaRPr lang="en-US" sz="10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3792" y="1133856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596128" y="104241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granular de dados pessoais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5596128" y="13716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LGPD Art. 37 · MCI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228600" y="1810512"/>
            <a:ext cx="4206240" cy="658368"/>
          </a:xfrm>
          <a:prstGeom prst="rect">
            <a:avLst/>
          </a:prstGeom>
          <a:solidFill>
            <a:srgbClr val="F0FAF4"/>
          </a:solidFill>
          <a:ln w="12700">
            <a:solidFill>
              <a:srgbClr val="B0DF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Shape 13"/>
          <p:cNvSpPr/>
          <p:nvPr/>
        </p:nvSpPr>
        <p:spPr>
          <a:xfrm>
            <a:off x="228600" y="1810512"/>
            <a:ext cx="438912" cy="658368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4"/>
          <p:cNvSpPr/>
          <p:nvPr/>
        </p:nvSpPr>
        <p:spPr>
          <a:xfrm>
            <a:off x="228600" y="1810512"/>
            <a:ext cx="438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</a:t>
            </a:r>
            <a:endParaRPr lang="en-US" sz="10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938528"/>
            <a:ext cx="347472" cy="34747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115568" y="184708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 de retenção (TTL 7 dias)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1115568" y="217627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LGPD Art. 15</a:t>
            </a:r>
            <a:endParaRPr lang="en-US" sz="900" dirty="0"/>
          </a:p>
        </p:txBody>
      </p:sp>
      <p:sp>
        <p:nvSpPr>
          <p:cNvPr id="23" name="Shape 17"/>
          <p:cNvSpPr/>
          <p:nvPr/>
        </p:nvSpPr>
        <p:spPr>
          <a:xfrm>
            <a:off x="4709160" y="1810512"/>
            <a:ext cx="4206240" cy="658368"/>
          </a:xfrm>
          <a:prstGeom prst="rect">
            <a:avLst/>
          </a:prstGeom>
          <a:solidFill>
            <a:srgbClr val="F0FAF4"/>
          </a:solidFill>
          <a:ln w="12700">
            <a:solidFill>
              <a:srgbClr val="B0DF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4" name="Shape 18"/>
          <p:cNvSpPr/>
          <p:nvPr/>
        </p:nvSpPr>
        <p:spPr>
          <a:xfrm>
            <a:off x="4709160" y="1810512"/>
            <a:ext cx="438912" cy="658368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19"/>
          <p:cNvSpPr/>
          <p:nvPr/>
        </p:nvSpPr>
        <p:spPr>
          <a:xfrm>
            <a:off x="4709160" y="1810512"/>
            <a:ext cx="438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</a:t>
            </a:r>
            <a:endParaRPr lang="en-US" sz="1000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3792" y="1938528"/>
            <a:ext cx="347472" cy="34747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596128" y="184708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Cofre de segredos (Key Vault)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5596128" y="217627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27002 A.9</a:t>
            </a:r>
            <a:endParaRPr lang="en-US" sz="900" dirty="0"/>
          </a:p>
        </p:txBody>
      </p:sp>
      <p:sp>
        <p:nvSpPr>
          <p:cNvPr id="29" name="Shape 22"/>
          <p:cNvSpPr/>
          <p:nvPr/>
        </p:nvSpPr>
        <p:spPr>
          <a:xfrm>
            <a:off x="228600" y="2615184"/>
            <a:ext cx="4206240" cy="658368"/>
          </a:xfrm>
          <a:prstGeom prst="rect">
            <a:avLst/>
          </a:prstGeom>
          <a:solidFill>
            <a:srgbClr val="F0FAF4"/>
          </a:solidFill>
          <a:ln w="12700">
            <a:solidFill>
              <a:srgbClr val="B0DF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0" name="Shape 23"/>
          <p:cNvSpPr/>
          <p:nvPr/>
        </p:nvSpPr>
        <p:spPr>
          <a:xfrm>
            <a:off x="228600" y="2615184"/>
            <a:ext cx="438912" cy="658368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24"/>
          <p:cNvSpPr/>
          <p:nvPr/>
        </p:nvSpPr>
        <p:spPr>
          <a:xfrm>
            <a:off x="228600" y="2615184"/>
            <a:ext cx="438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C5</a:t>
            </a:r>
            <a:endParaRPr lang="en-US" sz="1000" dirty="0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2743200"/>
            <a:ext cx="347472" cy="34747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1115568" y="26517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Documentação técnica completa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1115568" y="298094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27001 A.7</a:t>
            </a:r>
            <a:endParaRPr lang="en-US" sz="900" dirty="0"/>
          </a:p>
        </p:txBody>
      </p:sp>
      <p:sp>
        <p:nvSpPr>
          <p:cNvPr id="35" name="Shape 27"/>
          <p:cNvSpPr/>
          <p:nvPr/>
        </p:nvSpPr>
        <p:spPr>
          <a:xfrm>
            <a:off x="4709160" y="2615184"/>
            <a:ext cx="4206240" cy="658368"/>
          </a:xfrm>
          <a:prstGeom prst="rect">
            <a:avLst/>
          </a:prstGeom>
          <a:solidFill>
            <a:srgbClr val="F0FAF4"/>
          </a:solidFill>
          <a:ln w="12700">
            <a:solidFill>
              <a:srgbClr val="B0DF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6" name="Shape 28"/>
          <p:cNvSpPr/>
          <p:nvPr/>
        </p:nvSpPr>
        <p:spPr>
          <a:xfrm>
            <a:off x="4709160" y="2615184"/>
            <a:ext cx="438912" cy="658368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Text 29"/>
          <p:cNvSpPr/>
          <p:nvPr/>
        </p:nvSpPr>
        <p:spPr>
          <a:xfrm>
            <a:off x="4709160" y="2615184"/>
            <a:ext cx="438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C6</a:t>
            </a:r>
            <a:endParaRPr lang="en-US" sz="1000" dirty="0"/>
          </a:p>
        </p:txBody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3792" y="2743200"/>
            <a:ext cx="347472" cy="347472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5596128" y="26517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Homologação com dados anonimizados</a:t>
            </a:r>
            <a:endParaRPr lang="en-US" sz="1100" dirty="0"/>
          </a:p>
        </p:txBody>
      </p:sp>
      <p:sp>
        <p:nvSpPr>
          <p:cNvPr id="40" name="Text 31"/>
          <p:cNvSpPr/>
          <p:nvPr/>
        </p:nvSpPr>
        <p:spPr>
          <a:xfrm>
            <a:off x="5596128" y="298094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27002 A.12</a:t>
            </a:r>
            <a:endParaRPr lang="en-US" sz="900" dirty="0"/>
          </a:p>
        </p:txBody>
      </p:sp>
      <p:sp>
        <p:nvSpPr>
          <p:cNvPr id="41" name="Shape 32"/>
          <p:cNvSpPr/>
          <p:nvPr/>
        </p:nvSpPr>
        <p:spPr>
          <a:xfrm>
            <a:off x="228600" y="3419856"/>
            <a:ext cx="4206240" cy="658368"/>
          </a:xfrm>
          <a:prstGeom prst="rect">
            <a:avLst/>
          </a:prstGeom>
          <a:solidFill>
            <a:srgbClr val="F0FAF4"/>
          </a:solidFill>
          <a:ln w="12700">
            <a:solidFill>
              <a:srgbClr val="B0DF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2" name="Shape 33"/>
          <p:cNvSpPr/>
          <p:nvPr/>
        </p:nvSpPr>
        <p:spPr>
          <a:xfrm>
            <a:off x="228600" y="3419856"/>
            <a:ext cx="438912" cy="658368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3" name="Text 34"/>
          <p:cNvSpPr/>
          <p:nvPr/>
        </p:nvSpPr>
        <p:spPr>
          <a:xfrm>
            <a:off x="228600" y="3419856"/>
            <a:ext cx="438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C7</a:t>
            </a:r>
            <a:endParaRPr lang="en-US" sz="1000" dirty="0"/>
          </a:p>
        </p:txBody>
      </p:sp>
      <p:pic>
        <p:nvPicPr>
          <p:cNvPr id="44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3547872"/>
            <a:ext cx="347472" cy="347472"/>
          </a:xfrm>
          <a:prstGeom prst="rect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1115568" y="345643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 proativo + alertas</a:t>
            </a:r>
            <a:endParaRPr lang="en-US" sz="1100" dirty="0"/>
          </a:p>
        </p:txBody>
      </p:sp>
      <p:sp>
        <p:nvSpPr>
          <p:cNvPr id="46" name="Text 36"/>
          <p:cNvSpPr/>
          <p:nvPr/>
        </p:nvSpPr>
        <p:spPr>
          <a:xfrm>
            <a:off x="1115568" y="378561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27002 A.12 · ANATEL</a:t>
            </a:r>
            <a:endParaRPr lang="en-US" sz="900" dirty="0"/>
          </a:p>
        </p:txBody>
      </p:sp>
      <p:sp>
        <p:nvSpPr>
          <p:cNvPr id="47" name="Shape 37"/>
          <p:cNvSpPr/>
          <p:nvPr/>
        </p:nvSpPr>
        <p:spPr>
          <a:xfrm>
            <a:off x="4709160" y="3419856"/>
            <a:ext cx="4206240" cy="658368"/>
          </a:xfrm>
          <a:prstGeom prst="rect">
            <a:avLst/>
          </a:prstGeom>
          <a:solidFill>
            <a:srgbClr val="F0FAF4"/>
          </a:solidFill>
          <a:ln w="12700">
            <a:solidFill>
              <a:srgbClr val="B0DF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8" name="Shape 38"/>
          <p:cNvSpPr/>
          <p:nvPr/>
        </p:nvSpPr>
        <p:spPr>
          <a:xfrm>
            <a:off x="4709160" y="3419856"/>
            <a:ext cx="438912" cy="658368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9" name="Text 39"/>
          <p:cNvSpPr/>
          <p:nvPr/>
        </p:nvSpPr>
        <p:spPr>
          <a:xfrm>
            <a:off x="4709160" y="3419856"/>
            <a:ext cx="438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C8</a:t>
            </a:r>
            <a:endParaRPr lang="en-US" sz="1000" dirty="0"/>
          </a:p>
        </p:txBody>
      </p:sp>
      <p:pic>
        <p:nvPicPr>
          <p:cNvPr id="50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3792" y="3547872"/>
            <a:ext cx="347472" cy="347472"/>
          </a:xfrm>
          <a:prstGeom prst="rect">
            <a:avLst/>
          </a:prstGeom>
        </p:spPr>
      </p:pic>
      <p:sp>
        <p:nvSpPr>
          <p:cNvPr id="51" name="Text 40"/>
          <p:cNvSpPr/>
          <p:nvPr/>
        </p:nvSpPr>
        <p:spPr>
          <a:xfrm>
            <a:off x="5596128" y="345643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+ Circuit Breaker (legados)</a:t>
            </a:r>
            <a:endParaRPr lang="en-US" sz="1100" dirty="0"/>
          </a:p>
        </p:txBody>
      </p:sp>
      <p:sp>
        <p:nvSpPr>
          <p:cNvPr id="52" name="Text 41"/>
          <p:cNvSpPr/>
          <p:nvPr/>
        </p:nvSpPr>
        <p:spPr>
          <a:xfrm>
            <a:off x="5596128" y="378561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27002 A.17</a:t>
            </a:r>
            <a:endParaRPr lang="en-US" sz="900" dirty="0"/>
          </a:p>
        </p:txBody>
      </p:sp>
      <p:sp>
        <p:nvSpPr>
          <p:cNvPr id="53" name="Shape 42"/>
          <p:cNvSpPr/>
          <p:nvPr/>
        </p:nvSpPr>
        <p:spPr>
          <a:xfrm>
            <a:off x="228600" y="4224528"/>
            <a:ext cx="4206240" cy="658368"/>
          </a:xfrm>
          <a:prstGeom prst="rect">
            <a:avLst/>
          </a:prstGeom>
          <a:solidFill>
            <a:srgbClr val="F0FAF4"/>
          </a:solidFill>
          <a:ln w="12700">
            <a:solidFill>
              <a:srgbClr val="B0DF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4" name="Shape 43"/>
          <p:cNvSpPr/>
          <p:nvPr/>
        </p:nvSpPr>
        <p:spPr>
          <a:xfrm>
            <a:off x="228600" y="4224528"/>
            <a:ext cx="438912" cy="658368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5" name="Text 44"/>
          <p:cNvSpPr/>
          <p:nvPr/>
        </p:nvSpPr>
        <p:spPr>
          <a:xfrm>
            <a:off x="228600" y="4224528"/>
            <a:ext cx="438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C9</a:t>
            </a:r>
            <a:endParaRPr lang="en-US" sz="1000" dirty="0"/>
          </a:p>
        </p:txBody>
      </p:sp>
      <p:pic>
        <p:nvPicPr>
          <p:cNvPr id="56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4352544"/>
            <a:ext cx="347472" cy="347472"/>
          </a:xfrm>
          <a:prstGeom prst="rect">
            <a:avLst/>
          </a:prstGeom>
        </p:spPr>
      </p:pic>
      <p:sp>
        <p:nvSpPr>
          <p:cNvPr id="57" name="Text 45"/>
          <p:cNvSpPr/>
          <p:nvPr/>
        </p:nvSpPr>
        <p:spPr>
          <a:xfrm>
            <a:off x="1115568" y="426110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de DR semestral</a:t>
            </a:r>
            <a:endParaRPr lang="en-US" sz="1100" dirty="0"/>
          </a:p>
        </p:txBody>
      </p:sp>
      <p:sp>
        <p:nvSpPr>
          <p:cNvPr id="58" name="Text 46"/>
          <p:cNvSpPr/>
          <p:nvPr/>
        </p:nvSpPr>
        <p:spPr>
          <a:xfrm>
            <a:off x="1115568" y="45902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27001 A.17</a:t>
            </a:r>
            <a:endParaRPr lang="en-US" sz="900" dirty="0"/>
          </a:p>
        </p:txBody>
      </p:sp>
      <p:sp>
        <p:nvSpPr>
          <p:cNvPr id="59" name="Shape 47"/>
          <p:cNvSpPr/>
          <p:nvPr/>
        </p:nvSpPr>
        <p:spPr>
          <a:xfrm>
            <a:off x="4709160" y="4224528"/>
            <a:ext cx="4206240" cy="658368"/>
          </a:xfrm>
          <a:prstGeom prst="rect">
            <a:avLst/>
          </a:prstGeom>
          <a:solidFill>
            <a:srgbClr val="F0FAF4"/>
          </a:solidFill>
          <a:ln w="12700">
            <a:solidFill>
              <a:srgbClr val="B0DF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0" name="Shape 48"/>
          <p:cNvSpPr/>
          <p:nvPr/>
        </p:nvSpPr>
        <p:spPr>
          <a:xfrm>
            <a:off x="4709160" y="4224528"/>
            <a:ext cx="438912" cy="658368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1" name="Text 49"/>
          <p:cNvSpPr/>
          <p:nvPr/>
        </p:nvSpPr>
        <p:spPr>
          <a:xfrm>
            <a:off x="4709160" y="4224528"/>
            <a:ext cx="438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C10</a:t>
            </a:r>
            <a:endParaRPr lang="en-US" sz="1000" dirty="0"/>
          </a:p>
        </p:txBody>
      </p:sp>
      <p:pic>
        <p:nvPicPr>
          <p:cNvPr id="62" name="Image 1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3792" y="4352544"/>
            <a:ext cx="347472" cy="347472"/>
          </a:xfrm>
          <a:prstGeom prst="rect">
            <a:avLst/>
          </a:prstGeom>
        </p:spPr>
      </p:pic>
      <p:sp>
        <p:nvSpPr>
          <p:cNvPr id="63" name="Text 50"/>
          <p:cNvSpPr/>
          <p:nvPr/>
        </p:nvSpPr>
        <p:spPr>
          <a:xfrm>
            <a:off x="5596128" y="426110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resposta a incidentes</a:t>
            </a:r>
            <a:endParaRPr lang="en-US" sz="1100" dirty="0"/>
          </a:p>
        </p:txBody>
      </p:sp>
      <p:sp>
        <p:nvSpPr>
          <p:cNvPr id="64" name="Text 51"/>
          <p:cNvSpPr/>
          <p:nvPr/>
        </p:nvSpPr>
        <p:spPr>
          <a:xfrm>
            <a:off x="5596128" y="45902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LGPD Art. 48 · ANATEL</a:t>
            </a:r>
            <a:endParaRPr lang="en-US" sz="900" dirty="0"/>
          </a:p>
        </p:txBody>
      </p:sp>
      <p:sp>
        <p:nvSpPr>
          <p:cNvPr id="65" name="Text 52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da Informação · PUC-PR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8288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Benefícios da Conformidade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228600" y="1097280"/>
            <a:ext cx="4114800" cy="1600200"/>
          </a:xfrm>
          <a:prstGeom prst="rect">
            <a:avLst/>
          </a:prstGeom>
          <a:solidFill>
            <a:srgbClr val="F0F4FA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Shape 3"/>
          <p:cNvSpPr/>
          <p:nvPr/>
        </p:nvSpPr>
        <p:spPr>
          <a:xfrm>
            <a:off x="228600" y="1097280"/>
            <a:ext cx="4114800" cy="73152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228600" y="1207008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R$50M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365760" y="201168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Multa máxima por infração LGPD (art. 52) — evitada com conformidade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709160" y="1097280"/>
            <a:ext cx="4114800" cy="1600200"/>
          </a:xfrm>
          <a:prstGeom prst="rect">
            <a:avLst/>
          </a:prstGeom>
          <a:solidFill>
            <a:srgbClr val="F0F4FA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4709160" y="1097280"/>
            <a:ext cx="4114800" cy="73152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4709160" y="1207008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≤72h</a:t>
            </a:r>
            <a:endParaRPr lang="en-US" sz="4000" dirty="0"/>
          </a:p>
        </p:txBody>
      </p:sp>
      <p:sp>
        <p:nvSpPr>
          <p:cNvPr id="12" name="Text 9"/>
          <p:cNvSpPr/>
          <p:nvPr/>
        </p:nvSpPr>
        <p:spPr>
          <a:xfrm>
            <a:off x="4846320" y="201168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 de notificação de incidentes exigido pela LGPD e ANATEL 740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228600" y="2926080"/>
            <a:ext cx="4114800" cy="1600200"/>
          </a:xfrm>
          <a:prstGeom prst="rect">
            <a:avLst/>
          </a:prstGeom>
          <a:solidFill>
            <a:srgbClr val="F0F4FA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Shape 11"/>
          <p:cNvSpPr/>
          <p:nvPr/>
        </p:nvSpPr>
        <p:spPr>
          <a:xfrm>
            <a:off x="228600" y="2926080"/>
            <a:ext cx="41148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228600" y="3035808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6–12</a:t>
            </a:r>
            <a:endParaRPr lang="en-US" sz="4000" dirty="0"/>
          </a:p>
        </p:txBody>
      </p:sp>
      <p:sp>
        <p:nvSpPr>
          <p:cNvPr id="16" name="Text 13"/>
          <p:cNvSpPr/>
          <p:nvPr/>
        </p:nvSpPr>
        <p:spPr>
          <a:xfrm>
            <a:off x="365760" y="384048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de retenção de logs exigidos pelo Marco Civil da Internet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709160" y="2926080"/>
            <a:ext cx="4114800" cy="1600200"/>
          </a:xfrm>
          <a:prstGeom prst="rect">
            <a:avLst/>
          </a:prstGeom>
          <a:solidFill>
            <a:srgbClr val="F0F4FA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Shape 15"/>
          <p:cNvSpPr/>
          <p:nvPr/>
        </p:nvSpPr>
        <p:spPr>
          <a:xfrm>
            <a:off x="4709160" y="2926080"/>
            <a:ext cx="41148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6"/>
          <p:cNvSpPr/>
          <p:nvPr/>
        </p:nvSpPr>
        <p:spPr>
          <a:xfrm>
            <a:off x="4709160" y="3035808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000" dirty="0"/>
          </a:p>
        </p:txBody>
      </p:sp>
      <p:sp>
        <p:nvSpPr>
          <p:cNvPr id="20" name="Text 17"/>
          <p:cNvSpPr/>
          <p:nvPr/>
        </p:nvSpPr>
        <p:spPr>
          <a:xfrm>
            <a:off x="4846320" y="384048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penalidades previstas são evitáveis com controles técnicos adequados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da Informação · PUC-PR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004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274320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320040" y="1143000"/>
            <a:ext cx="8503920" cy="36576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3"/>
          <p:cNvSpPr/>
          <p:nvPr/>
        </p:nvSpPr>
        <p:spPr>
          <a:xfrm>
            <a:off x="320040" y="1399032"/>
            <a:ext cx="320040" cy="3200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320040" y="139903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49808" y="13258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Portal de Automação da Vivo processa dados pessoais em escala — LGPD e ANATEL 740 se aplicam integralmente.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20040" y="2240280"/>
            <a:ext cx="320040" cy="3200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320040" y="2240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49808" y="2167128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riscos identificados: 5 de privacidade, 5 de confiabilidade — todos mitigáveis com controles técnicos viáveis.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320040" y="3081528"/>
            <a:ext cx="320040" cy="3200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320040" y="30815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49808" y="3008376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Conformidade com LGPD, Marco Civil, ISO 27001/27002 e ANATEL 740 não é opcional — é obrigação legal e vantagem competitiva.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320040" y="3922776"/>
            <a:ext cx="320040" cy="3200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/>
          <p:nvPr/>
        </p:nvSpPr>
        <p:spPr>
          <a:xfrm>
            <a:off x="320040" y="392277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49808" y="3849624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de prevenção &lt;&lt; custo de remediação pós-incidente (investigação forense + notificações + multas + reputação).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320040" y="4663440"/>
            <a:ext cx="8503920" cy="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6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"Better safe than sorry!"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772</Words>
  <Application>Microsoft Macintosh PowerPoint</Application>
  <PresentationFormat>Apresentação na tela (16:9)</PresentationFormat>
  <Paragraphs>134</Paragraphs>
  <Slides>8</Slides>
  <Notes>8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Leis, Normas e Padrões — Segurança da Informação</dc:title>
  <dc:subject>PptxGenJS Presentation</dc:subject>
  <dc:creator>Guilherme Reis; Vinicius Trevisan</dc:creator>
  <cp:lastModifiedBy>Vinicius Meier Trevisan</cp:lastModifiedBy>
  <cp:revision>3</cp:revision>
  <dcterms:created xsi:type="dcterms:W3CDTF">2026-05-06T01:08:28Z</dcterms:created>
  <dcterms:modified xsi:type="dcterms:W3CDTF">2026-05-13T00:32:07Z</dcterms:modified>
</cp:coreProperties>
</file>