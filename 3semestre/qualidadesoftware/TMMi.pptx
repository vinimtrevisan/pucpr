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8" r:id="rId3"/>
    <p:sldId id="262" r:id="rId4"/>
    <p:sldId id="260" r:id="rId5"/>
    <p:sldId id="263" r:id="rId6"/>
    <p:sldId id="266" r:id="rId7"/>
    <p:sldId id="264" r:id="rId8"/>
    <p:sldId id="265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726"/>
  </p:normalViewPr>
  <p:slideViewPr>
    <p:cSldViewPr snapToGrid="0">
      <p:cViewPr varScale="1">
        <p:scale>
          <a:sx n="122" d="100"/>
          <a:sy n="122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E464C3C-3A98-0846-8BD3-6C8DE4286CEF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B8DF0C2-6938-F44F-8A67-EE2F325FA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8493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4C3C-3A98-0846-8BD3-6C8DE4286CEF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DF0C2-6938-F44F-8A67-EE2F325FA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54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E464C3C-3A98-0846-8BD3-6C8DE4286CEF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B8DF0C2-6938-F44F-8A67-EE2F325FA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3195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E464C3C-3A98-0846-8BD3-6C8DE4286CEF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B8DF0C2-6938-F44F-8A67-EE2F325FA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3414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E464C3C-3A98-0846-8BD3-6C8DE4286CEF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B8DF0C2-6938-F44F-8A67-EE2F325FA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4432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4C3C-3A98-0846-8BD3-6C8DE4286CEF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DF0C2-6938-F44F-8A67-EE2F325FA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2924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E464C3C-3A98-0846-8BD3-6C8DE4286CEF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B8DF0C2-6938-F44F-8A67-EE2F325FA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244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4C3C-3A98-0846-8BD3-6C8DE4286CEF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DF0C2-6938-F44F-8A67-EE2F325FA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3069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E464C3C-3A98-0846-8BD3-6C8DE4286CEF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B8DF0C2-6938-F44F-8A67-EE2F325FA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0520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4C3C-3A98-0846-8BD3-6C8DE4286CEF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DF0C2-6938-F44F-8A67-EE2F325FA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1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E464C3C-3A98-0846-8BD3-6C8DE4286CEF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B8DF0C2-6938-F44F-8A67-EE2F325FA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8723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64C3C-3A98-0846-8BD3-6C8DE4286CEF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DF0C2-6938-F44F-8A67-EE2F325FAA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18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A21A8D-A2F6-FB7E-2C52-A6663246B5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Aplicação do </a:t>
            </a:r>
            <a:r>
              <a:rPr lang="pt-BR" sz="3600" dirty="0" err="1"/>
              <a:t>TMMi</a:t>
            </a:r>
            <a:r>
              <a:rPr lang="pt-BR" sz="3600" dirty="0"/>
              <a:t> (Test </a:t>
            </a:r>
            <a:r>
              <a:rPr lang="pt-BR" sz="3600" dirty="0" err="1"/>
              <a:t>Maturity</a:t>
            </a:r>
            <a:r>
              <a:rPr lang="pt-BR" sz="3600" dirty="0"/>
              <a:t> Model </a:t>
            </a:r>
            <a:r>
              <a:rPr lang="pt-BR" sz="3600" dirty="0" err="1"/>
              <a:t>Integration</a:t>
            </a:r>
            <a:r>
              <a:rPr lang="pt-BR" sz="3600" dirty="0"/>
              <a:t>) em Empresas de Software</a:t>
            </a:r>
            <a:br>
              <a:rPr lang="pt-BR" sz="3600" dirty="0"/>
            </a:br>
            <a:endParaRPr lang="pt-BR" sz="3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E11991-0CAE-F468-1B95-725D92312B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Estudo de Caso: A Cultura de Engenharia de Qualidade da Microsoft</a:t>
            </a:r>
          </a:p>
          <a:p>
            <a:r>
              <a:rPr lang="pt-BR" sz="1500" dirty="0"/>
              <a:t>Guilherme Reis</a:t>
            </a:r>
          </a:p>
          <a:p>
            <a:r>
              <a:rPr lang="pt-BR" sz="1500" dirty="0"/>
              <a:t>Nicolas Lobo</a:t>
            </a:r>
          </a:p>
          <a:p>
            <a:r>
              <a:rPr lang="pt-BR" sz="1500" dirty="0"/>
              <a:t>Vinicius Trevisan</a:t>
            </a:r>
          </a:p>
        </p:txBody>
      </p:sp>
    </p:spTree>
    <p:extLst>
      <p:ext uri="{BB962C8B-B14F-4D97-AF65-F5344CB8AC3E}">
        <p14:creationId xmlns:p14="http://schemas.microsoft.com/office/powerpoint/2010/main" val="3586492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17F8A5-E521-F992-8674-7474B4323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1" y="2627585"/>
            <a:ext cx="3498979" cy="2178781"/>
          </a:xfrm>
        </p:spPr>
        <p:txBody>
          <a:bodyPr>
            <a:normAutofit fontScale="90000"/>
          </a:bodyPr>
          <a:lstStyle/>
          <a:p>
            <a:r>
              <a:rPr lang="pt-BR" dirty="0"/>
              <a:t>Por que a Maturidade em Testes é Crucial para um Gigante Global?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ACE886-038D-CEB0-941E-A67A8AEFF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Impacto Massivo:</a:t>
            </a:r>
            <a:r>
              <a:rPr lang="pt-BR" dirty="0"/>
              <a:t> Um único bug em produtos como Windows, Office 365 ou Azure pode afetar centenas de milhões de usuários, empresas e governos, causando perdas financeiras e de produtividade imensuráveis.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Ecossistema Complexo:</a:t>
            </a:r>
            <a:r>
              <a:rPr lang="pt-BR" dirty="0"/>
              <a:t> Os produtos da Microsoft estão interconectados. Uma falha no sistema de login do Azure pode derrubar incontáveis outros serviços. A complexidade exige uma abordagem de testes holística e rigorosa.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Ameaças Constantes:</a:t>
            </a:r>
            <a:r>
              <a:rPr lang="pt-BR" dirty="0"/>
              <a:t> Sendo um dos maiores alvos de ciberataques do mundo, a segurança não é uma funcionalidade, mas a base de tudo. Testes de segurança precisam ser contínuos e profundos.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O Desafio:</a:t>
            </a:r>
            <a:r>
              <a:rPr lang="pt-BR" dirty="0"/>
              <a:t> Como lançar inovações constantes e semanais para bilhões de usuários, garantindo um nível de estabilidade e segurança "cinco noves" (99,999%)? A resposta está em uma cultura de engenharia de qualidade profundamente enraizada.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7822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A092C-5319-A822-A7CC-691FCD755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Entendendo o </a:t>
            </a:r>
            <a:r>
              <a:rPr lang="pt-BR" dirty="0" err="1"/>
              <a:t>TMMi</a:t>
            </a:r>
            <a:r>
              <a:rPr lang="pt-BR" dirty="0"/>
              <a:t> (Test </a:t>
            </a:r>
            <a:r>
              <a:rPr lang="pt-BR" dirty="0" err="1"/>
              <a:t>Maturity</a:t>
            </a:r>
            <a:r>
              <a:rPr lang="pt-BR" dirty="0"/>
              <a:t> Model </a:t>
            </a:r>
            <a:r>
              <a:rPr lang="pt-BR" dirty="0" err="1"/>
              <a:t>Integration</a:t>
            </a:r>
            <a:r>
              <a:rPr lang="pt-BR" dirty="0"/>
              <a:t>)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A4DCC5-1A9D-4ADC-E6C4-8DA30EFBA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t-BR" sz="1500" dirty="0"/>
              <a:t>O </a:t>
            </a:r>
            <a:r>
              <a:rPr lang="pt-BR" sz="1500" dirty="0" err="1"/>
              <a:t>TMMi</a:t>
            </a:r>
            <a:r>
              <a:rPr lang="pt-BR" sz="1500" dirty="0"/>
              <a:t> é um modelo detalhado e complementar ao CMMI, focado exclusivamente na melhoria dos processos de teste.</a:t>
            </a:r>
          </a:p>
          <a:p>
            <a:pPr>
              <a:buFont typeface="+mj-lt"/>
              <a:buAutoNum type="arabicPeriod"/>
            </a:pPr>
            <a:r>
              <a:rPr lang="pt-BR" sz="1500" b="1" dirty="0"/>
              <a:t>Nível 1 - Inicial:</a:t>
            </a:r>
            <a:r>
              <a:rPr lang="pt-BR" sz="1500" dirty="0"/>
              <a:t> Testes ocorrem de forma não estruturada e reativa.</a:t>
            </a:r>
          </a:p>
          <a:p>
            <a:pPr>
              <a:buFont typeface="+mj-lt"/>
              <a:buAutoNum type="arabicPeriod"/>
            </a:pPr>
            <a:r>
              <a:rPr lang="pt-BR" sz="1500" b="1" dirty="0"/>
              <a:t>Nível 2 - Gerenciado:</a:t>
            </a:r>
            <a:r>
              <a:rPr lang="pt-BR" sz="1500" dirty="0"/>
              <a:t> São definidas políticas e estratégias básicas de teste.</a:t>
            </a:r>
          </a:p>
          <a:p>
            <a:pPr>
              <a:buFont typeface="+mj-lt"/>
              <a:buAutoNum type="arabicPeriod"/>
            </a:pPr>
            <a:r>
              <a:rPr lang="pt-BR" sz="1500" b="1" dirty="0"/>
              <a:t>Nível 3 - Definido:</a:t>
            </a:r>
            <a:r>
              <a:rPr lang="pt-BR" sz="1500" dirty="0"/>
              <a:t> O processo de teste é padronizado e integrado ao ciclo de vida de desenvolvimento. O foco é na </a:t>
            </a:r>
            <a:r>
              <a:rPr lang="pt-BR" sz="1500" b="1" dirty="0"/>
              <a:t>prevenção de defeitos</a:t>
            </a:r>
            <a:r>
              <a:rPr lang="pt-BR" sz="1500" dirty="0"/>
              <a:t>.</a:t>
            </a:r>
          </a:p>
          <a:p>
            <a:pPr>
              <a:buFont typeface="+mj-lt"/>
              <a:buAutoNum type="arabicPeriod"/>
            </a:pPr>
            <a:r>
              <a:rPr lang="pt-BR" sz="1500" b="1" dirty="0"/>
              <a:t>Nível 4 - Medido:</a:t>
            </a:r>
            <a:r>
              <a:rPr lang="pt-BR" sz="1500" dirty="0"/>
              <a:t> O processo e a qualidade são gerenciados quantitativamente com uso de métricas.</a:t>
            </a:r>
          </a:p>
          <a:p>
            <a:pPr>
              <a:buFont typeface="+mj-lt"/>
              <a:buAutoNum type="arabicPeriod"/>
            </a:pPr>
            <a:r>
              <a:rPr lang="pt-BR" sz="1500" b="1" dirty="0"/>
              <a:t>Nível 5 - Otimização:</a:t>
            </a:r>
            <a:r>
              <a:rPr lang="pt-BR" sz="1500" dirty="0"/>
              <a:t> A melhoria contínua e proativa do processo é institucionalizada.</a:t>
            </a:r>
          </a:p>
          <a:p>
            <a:endParaRPr lang="pt-BR" sz="1500" dirty="0"/>
          </a:p>
        </p:txBody>
      </p:sp>
    </p:spTree>
    <p:extLst>
      <p:ext uri="{BB962C8B-B14F-4D97-AF65-F5344CB8AC3E}">
        <p14:creationId xmlns:p14="http://schemas.microsoft.com/office/powerpoint/2010/main" val="1504467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773FB-3BF1-41CD-A834-46DA0A41A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 Caso Microsoft: Da Caixa ao Cloud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F6D1F5-2FED-A131-EAD1-1A2C4BF2F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447" y="493986"/>
            <a:ext cx="6653139" cy="555782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1500" b="1" dirty="0"/>
              <a:t>A Evolução Necessária:</a:t>
            </a:r>
            <a:r>
              <a:rPr lang="pt-BR" sz="1500" dirty="0"/>
              <a:t> A Microsoft passou por uma transformação massiva: de entregar software em caixas a cada 3 anos (</a:t>
            </a:r>
            <a:r>
              <a:rPr lang="pt-BR" sz="1500" dirty="0" err="1"/>
              <a:t>ex</a:t>
            </a:r>
            <a:r>
              <a:rPr lang="pt-BR" sz="1500" dirty="0"/>
              <a:t>: Windows 95) para atualizar serviços de nuvem (Cloud) diariamente. Este novo modelo exigiu uma revolução completa em sua abordagem de qualidade.</a:t>
            </a:r>
          </a:p>
          <a:p>
            <a:pPr>
              <a:buNone/>
            </a:pPr>
            <a:r>
              <a:rPr lang="pt-BR" sz="1500" b="1" dirty="0"/>
              <a:t>Fim das Equipes de Teste Silo:</a:t>
            </a:r>
            <a:r>
              <a:rPr lang="pt-BR" sz="1500" dirty="0"/>
              <a:t> O modelo antigo, com grandes equipes de teste separadas dos desenvolvedores, era muito lento. A Microsoft dissolveu essas equipes e integrou a responsabilidade pela qualidade diretamente nos times de engenharia.</a:t>
            </a:r>
          </a:p>
          <a:p>
            <a:pPr marL="0" indent="0">
              <a:buNone/>
            </a:pPr>
            <a:r>
              <a:rPr lang="pt-BR" sz="1500" b="1" dirty="0"/>
              <a:t>Engenharia de Qualidade como Missão:</a:t>
            </a:r>
            <a:r>
              <a:rPr lang="pt-BR" sz="1500" dirty="0"/>
              <a:t> A cultura mudou de "desenvolvedores criam, testadores quebram" para "engenheiros constroem e garantem a qualidade do seu próprio código". A qualidade passou a ser uma responsabilidade de todos.</a:t>
            </a:r>
          </a:p>
          <a:p>
            <a:pPr marL="0" indent="0">
              <a:buNone/>
            </a:pPr>
            <a:endParaRPr lang="pt-BR" sz="1500" dirty="0"/>
          </a:p>
        </p:txBody>
      </p:sp>
    </p:spTree>
    <p:extLst>
      <p:ext uri="{BB962C8B-B14F-4D97-AF65-F5344CB8AC3E}">
        <p14:creationId xmlns:p14="http://schemas.microsoft.com/office/powerpoint/2010/main" val="470085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98153E-DB38-0AAD-2475-813DBFDF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1" y="2349924"/>
            <a:ext cx="3498979" cy="2957799"/>
          </a:xfrm>
        </p:spPr>
        <p:txBody>
          <a:bodyPr>
            <a:normAutofit fontScale="90000"/>
          </a:bodyPr>
          <a:lstStyle/>
          <a:p>
            <a:r>
              <a:rPr lang="pt-BR" dirty="0"/>
              <a:t>Práticas de Teste na Microsoft: A Cultura "Shift-</a:t>
            </a:r>
            <a:r>
              <a:rPr lang="pt-BR" dirty="0" err="1"/>
              <a:t>Left</a:t>
            </a:r>
            <a:r>
              <a:rPr lang="pt-BR" dirty="0"/>
              <a:t>"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337E5A-8867-6B2D-430C-F177BEBA8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447" y="935421"/>
            <a:ext cx="6281873" cy="51163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500" dirty="0"/>
              <a:t>"Shift-</a:t>
            </a:r>
            <a:r>
              <a:rPr lang="pt-BR" sz="1500" dirty="0" err="1"/>
              <a:t>Left</a:t>
            </a:r>
            <a:r>
              <a:rPr lang="pt-BR" sz="1500" dirty="0"/>
              <a:t>" significa mover a qualidade para o início do ciclo de desenvolvimento. A Microsoft faz isso através 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500" b="1" dirty="0"/>
              <a:t>Empoderamento dos Desenvolvedores:</a:t>
            </a:r>
            <a:r>
              <a:rPr lang="pt-BR" sz="1500" dirty="0"/>
              <a:t> Os engenheiros têm acesso a frameworks de teste e infraestrutura para escrever testes unitários, de componentes e de integração como parte de seu fluxo de trabalho diário.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500" b="1" dirty="0"/>
              <a:t>Esteiras de CI/CD com </a:t>
            </a:r>
            <a:r>
              <a:rPr lang="pt-BR" sz="1500" b="1" dirty="0" err="1"/>
              <a:t>Quality</a:t>
            </a:r>
            <a:r>
              <a:rPr lang="pt-BR" sz="1500" b="1" dirty="0"/>
              <a:t> Gates:</a:t>
            </a:r>
            <a:r>
              <a:rPr lang="pt-BR" sz="1500" dirty="0"/>
              <a:t> Nenhuma mudança de código chega à produção sem passar por um pipeline de integração e entrega contínua (CI/CD) com "portões de qualidade" (</a:t>
            </a:r>
            <a:r>
              <a:rPr lang="pt-BR" sz="1500" dirty="0" err="1"/>
              <a:t>Quality</a:t>
            </a:r>
            <a:r>
              <a:rPr lang="pt-BR" sz="1500" dirty="0"/>
              <a:t> Gates) automatizados que rodam milhares de testes.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500" b="1" dirty="0"/>
              <a:t>Testes em Produção (Safe Deployment):</a:t>
            </a:r>
            <a:r>
              <a:rPr lang="pt-BR" sz="1500" dirty="0"/>
              <a:t> A Microsoft é pioneira em técnicas de implantação segura. As atualizações são liberadas em "anéis" ou "ondas", começando com equipes internas, depois para usuários beta e gradualmente para o público geral, sempre monitorando a telemetria.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500" b="1" dirty="0"/>
              <a:t>Telemetria e Análise de Dados:</a:t>
            </a:r>
            <a:r>
              <a:rPr lang="pt-BR" sz="1500" dirty="0"/>
              <a:t> Os serviços da Microsoft coletam massivamente dados (anônimos) de performance e falhas. Esses dados são analisados em tempo real para detectar problemas antes que impactem um grande número de usuários.</a:t>
            </a:r>
          </a:p>
          <a:p>
            <a:endParaRPr lang="pt-BR" sz="1500" dirty="0"/>
          </a:p>
        </p:txBody>
      </p:sp>
    </p:spTree>
    <p:extLst>
      <p:ext uri="{BB962C8B-B14F-4D97-AF65-F5344CB8AC3E}">
        <p14:creationId xmlns:p14="http://schemas.microsoft.com/office/powerpoint/2010/main" val="514450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0245CC-35D6-74DD-FBC3-2765AD7E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1" y="2701159"/>
            <a:ext cx="3498979" cy="2105207"/>
          </a:xfrm>
        </p:spPr>
        <p:txBody>
          <a:bodyPr>
            <a:normAutofit fontScale="90000"/>
          </a:bodyPr>
          <a:lstStyle/>
          <a:p>
            <a:r>
              <a:rPr lang="pt-BR" dirty="0"/>
              <a:t>Alinhamento: Como a Microsoft Reflete a Alta Maturidade </a:t>
            </a:r>
            <a:r>
              <a:rPr lang="pt-BR" dirty="0" err="1"/>
              <a:t>TMMi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19ADAD-5CC7-DB35-A6FB-881C41AE9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447" y="609600"/>
            <a:ext cx="6281873" cy="544220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1500" dirty="0"/>
              <a:t>Embora a Microsoft use sua própria terminologia, suas práticas são um exemplo perfeito dos níveis mais altos do </a:t>
            </a:r>
            <a:r>
              <a:rPr lang="pt-BR" sz="1500" dirty="0" err="1"/>
              <a:t>TMMi</a:t>
            </a:r>
            <a:r>
              <a:rPr lang="pt-BR" sz="15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500" b="1" dirty="0"/>
              <a:t>Nível 3 (Definido):</a:t>
            </a:r>
            <a:r>
              <a:rPr lang="pt-BR" sz="1500" dirty="0"/>
              <a:t> A padronização das esteiras de CI/CD e a definição de "</a:t>
            </a:r>
            <a:r>
              <a:rPr lang="pt-BR" sz="1500" dirty="0" err="1"/>
              <a:t>Quality</a:t>
            </a:r>
            <a:r>
              <a:rPr lang="pt-BR" sz="1500" dirty="0"/>
              <a:t> Gates" obrigatórios para todas as equipes representam um processo de teste definido e institucionalizado.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500" b="1" dirty="0"/>
              <a:t>Nível 4 (Medido):</a:t>
            </a:r>
            <a:r>
              <a:rPr lang="pt-BR" sz="1500" dirty="0"/>
              <a:t> O uso intensivo de </a:t>
            </a:r>
            <a:r>
              <a:rPr lang="pt-BR" sz="1500" b="1" dirty="0"/>
              <a:t>telemetria</a:t>
            </a:r>
            <a:r>
              <a:rPr lang="pt-BR" sz="1500" dirty="0"/>
              <a:t>, dashboards de saúde do serviço (</a:t>
            </a:r>
            <a:r>
              <a:rPr lang="pt-BR" sz="1500" dirty="0" err="1"/>
              <a:t>service</a:t>
            </a:r>
            <a:r>
              <a:rPr lang="pt-BR" sz="1500" dirty="0"/>
              <a:t> </a:t>
            </a:r>
            <a:r>
              <a:rPr lang="pt-BR" sz="1500" dirty="0" err="1"/>
              <a:t>health</a:t>
            </a:r>
            <a:r>
              <a:rPr lang="pt-BR" sz="1500" dirty="0"/>
              <a:t>) e análise de dados de falhas para tomar decisões sobre o </a:t>
            </a:r>
            <a:r>
              <a:rPr lang="pt-BR" sz="1500" dirty="0" err="1"/>
              <a:t>rollout</a:t>
            </a:r>
            <a:r>
              <a:rPr lang="pt-BR" sz="1500" dirty="0"/>
              <a:t> de uma feature é a materialização do </a:t>
            </a:r>
            <a:r>
              <a:rPr lang="pt-BR" sz="1500" dirty="0" err="1"/>
              <a:t>TMMi</a:t>
            </a:r>
            <a:r>
              <a:rPr lang="pt-BR" sz="1500" dirty="0"/>
              <a:t> Nível 4. A qualidade é medida objetivamente.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500" b="1" dirty="0"/>
              <a:t>Nível 5 (Otimização):</a:t>
            </a:r>
            <a:r>
              <a:rPr lang="pt-BR" sz="1500" dirty="0"/>
              <a:t> A empresa utiliza </a:t>
            </a:r>
            <a:r>
              <a:rPr lang="pt-BR" sz="1500" b="1" dirty="0"/>
              <a:t>IA e Machine Learning</a:t>
            </a:r>
            <a:r>
              <a:rPr lang="pt-BR" sz="1500" dirty="0"/>
              <a:t> para analisar a telemetria e prever falhas. A prática de A/</a:t>
            </a:r>
            <a:r>
              <a:rPr lang="pt-BR" sz="1500" dirty="0" err="1"/>
              <a:t>B</a:t>
            </a:r>
            <a:r>
              <a:rPr lang="pt-BR" sz="1500" dirty="0"/>
              <a:t> </a:t>
            </a:r>
            <a:r>
              <a:rPr lang="pt-BR" sz="1500" dirty="0" err="1"/>
              <a:t>testing</a:t>
            </a:r>
            <a:r>
              <a:rPr lang="pt-BR" sz="1500" dirty="0"/>
              <a:t> e a análise de "</a:t>
            </a:r>
            <a:r>
              <a:rPr lang="pt-BR" sz="1500" dirty="0" err="1"/>
              <a:t>flighting</a:t>
            </a:r>
            <a:r>
              <a:rPr lang="pt-BR" sz="1500" dirty="0"/>
              <a:t>" (testes com grupos de usuários) são usadas para otimizar continuamente não só o software, mas o próprio processo de qualidade.</a:t>
            </a:r>
          </a:p>
          <a:p>
            <a:endParaRPr lang="pt-BR" sz="1500" dirty="0"/>
          </a:p>
        </p:txBody>
      </p:sp>
    </p:spTree>
    <p:extLst>
      <p:ext uri="{BB962C8B-B14F-4D97-AF65-F5344CB8AC3E}">
        <p14:creationId xmlns:p14="http://schemas.microsoft.com/office/powerpoint/2010/main" val="2542565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4FEA5-2504-031E-0B79-E59F09891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Benefícios e Desafios na Escala da Microsoft</a:t>
            </a:r>
            <a:br>
              <a:rPr lang="pt-BR" dirty="0"/>
            </a:b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2501ED2-0EBF-3FE3-C447-92C37BDEB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510" y="378372"/>
            <a:ext cx="2512062" cy="517073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pt-BR" sz="5000" dirty="0"/>
              <a:t>POSITIVO</a:t>
            </a:r>
          </a:p>
          <a:p>
            <a:pPr marL="0" indent="0">
              <a:buNone/>
            </a:pPr>
            <a:r>
              <a:rPr lang="pt-BR" sz="2900" b="1" dirty="0"/>
              <a:t>Inovação Contínua com Confiança:</a:t>
            </a:r>
            <a:r>
              <a:rPr lang="pt-BR" sz="2900" dirty="0"/>
              <a:t> Capacidade de lançar novas funcionalidades para bilhões de usuários semanalmente com risco controlado.</a:t>
            </a:r>
          </a:p>
          <a:p>
            <a:pPr marL="0" indent="0">
              <a:buNone/>
            </a:pPr>
            <a:r>
              <a:rPr lang="pt-BR" sz="2900" b="1" dirty="0"/>
              <a:t>Detecção Proativa de Problemas:</a:t>
            </a:r>
            <a:r>
              <a:rPr lang="pt-BR" sz="2900" dirty="0"/>
              <a:t> Identificar e corrigir falhas em produção (via telemetria) antes que se tornem incidentes globais.</a:t>
            </a:r>
          </a:p>
          <a:p>
            <a:pPr marL="0" indent="0">
              <a:buNone/>
            </a:pPr>
            <a:r>
              <a:rPr lang="pt-BR" sz="2900" b="1" dirty="0"/>
              <a:t>Resiliência e Segurança Robustas:</a:t>
            </a:r>
            <a:r>
              <a:rPr lang="pt-BR" sz="2900" dirty="0"/>
              <a:t> A abordagem integrada garante que segurança e estabilidade sejam parte do design, não um remendo.</a:t>
            </a:r>
          </a:p>
          <a:p>
            <a:pPr marL="0" indent="0">
              <a:buNone/>
            </a:pPr>
            <a:r>
              <a:rPr lang="pt-BR" sz="2900" b="1" dirty="0"/>
              <a:t>Fidelidade e Confiança do Cliente:</a:t>
            </a:r>
            <a:r>
              <a:rPr lang="pt-BR" sz="2900" dirty="0"/>
              <a:t> Empresas confiam suas operações críticas a serviços como Azure e Microsoft 365 por causa dessa robustez.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C513A93-2450-5723-81EC-FD88185370E8}"/>
              </a:ext>
            </a:extLst>
          </p:cNvPr>
          <p:cNvSpPr txBox="1"/>
          <p:nvPr/>
        </p:nvSpPr>
        <p:spPr>
          <a:xfrm>
            <a:off x="8487472" y="571108"/>
            <a:ext cx="2769106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NEGATIVOS</a:t>
            </a:r>
          </a:p>
          <a:p>
            <a:endParaRPr lang="pt-BR" sz="1400" dirty="0"/>
          </a:p>
          <a:p>
            <a:r>
              <a:rPr lang="pt-BR" sz="1200" b="1" dirty="0"/>
              <a:t>Complexidade Exponencial:</a:t>
            </a:r>
            <a:r>
              <a:rPr lang="pt-BR" sz="1200" dirty="0"/>
              <a:t> Manter a consistência e a governança dos processos em milhares de equipes e milhões de linhas de código.</a:t>
            </a:r>
            <a:br>
              <a:rPr lang="pt-BR" sz="1200" dirty="0"/>
            </a:br>
            <a:endParaRPr lang="pt-BR" sz="1200" dirty="0"/>
          </a:p>
          <a:p>
            <a:r>
              <a:rPr lang="pt-BR" sz="1200" b="1" dirty="0"/>
              <a:t>Cultura e Treinamento:</a:t>
            </a:r>
            <a:r>
              <a:rPr lang="pt-BR" sz="1200" dirty="0"/>
              <a:t> A necessidade de treinar e manter constantemente uma cultura de "engenheiro de qualidade" em dezenas de milhares de funcionários.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/>
          </a:p>
          <a:p>
            <a:r>
              <a:rPr lang="pt-BR" sz="1200" b="1" dirty="0"/>
              <a:t>Custo de Infraestrutura:</a:t>
            </a:r>
            <a:r>
              <a:rPr lang="pt-BR" sz="1200" dirty="0"/>
              <a:t> Manter a massiva infraestrutura de build, testes e telemetria tem um custo significativo.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dirty="0"/>
          </a:p>
          <a:p>
            <a:r>
              <a:rPr lang="pt-BR" sz="1200" b="1" dirty="0"/>
              <a:t>Equilíbrio Agilidade vs. Rigor:</a:t>
            </a:r>
            <a:r>
              <a:rPr lang="pt-BR" sz="1200" dirty="0"/>
              <a:t> Encontrar o balanço certo para que os portões de qualidade não se tornem um gargalo para a inovação.</a:t>
            </a:r>
          </a:p>
        </p:txBody>
      </p:sp>
    </p:spTree>
    <p:extLst>
      <p:ext uri="{BB962C8B-B14F-4D97-AF65-F5344CB8AC3E}">
        <p14:creationId xmlns:p14="http://schemas.microsoft.com/office/powerpoint/2010/main" val="3977663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072C6B-C757-0EBD-5312-A886215C9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Conclusão: Qualidade como Pilar da Confiança e Inovação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79D173-5795-488A-F830-85C29DD16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pt-BR" sz="1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500" b="1" dirty="0"/>
              <a:t>Qualidade não é uma Etapa, é uma Cultura:</a:t>
            </a:r>
            <a:r>
              <a:rPr lang="pt-BR" sz="1500" dirty="0"/>
              <a:t> O caso da Microsoft prova que, em software moderno, a qualidade não pode ser responsabilidade de um departamento. Ela deve ser uma cultura de engenharia integrada e automatizada.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500" b="1" dirty="0"/>
              <a:t>A Base da Confiança Digital:</a:t>
            </a:r>
            <a:r>
              <a:rPr lang="pt-BR" sz="1500" dirty="0"/>
              <a:t> Para uma empresa cujo negócio é vender serviços digitais confiáveis, a maturidade em testes (como a descrita pelo </a:t>
            </a:r>
            <a:r>
              <a:rPr lang="pt-BR" sz="1500" dirty="0" err="1"/>
              <a:t>TMMi</a:t>
            </a:r>
            <a:r>
              <a:rPr lang="pt-BR" sz="1500" dirty="0"/>
              <a:t>) não é opcional. É o alicerce sobre o qual a confiança do cliente é construída.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500" b="1" dirty="0"/>
              <a:t>Motor da Inovação:</a:t>
            </a:r>
            <a:r>
              <a:rPr lang="pt-BR" sz="1500" dirty="0"/>
              <a:t> Uma plataforma de qualidade madura e automatizada permite que a Microsoft experimente e inove com uma velocidade que seria impensável se os testes ainda fossem um processo manual e lento. A qualidade acelera, não freia, a inovação.</a:t>
            </a:r>
          </a:p>
          <a:p>
            <a:endParaRPr lang="pt-BR" sz="1500" dirty="0"/>
          </a:p>
        </p:txBody>
      </p:sp>
    </p:spTree>
    <p:extLst>
      <p:ext uri="{BB962C8B-B14F-4D97-AF65-F5344CB8AC3E}">
        <p14:creationId xmlns:p14="http://schemas.microsoft.com/office/powerpoint/2010/main" val="813055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8A0D3-F10E-6646-29E6-092BCF55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Fontes Utilizadas na Pesquisa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5785F1-E62A-721E-6EC9-FA1D1D19B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7937" y="552242"/>
            <a:ext cx="6281873" cy="605180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b="1" dirty="0"/>
              <a:t>Microsoft </a:t>
            </a:r>
            <a:r>
              <a:rPr lang="pt-BR" b="1" dirty="0" err="1"/>
              <a:t>DevOps</a:t>
            </a:r>
            <a:r>
              <a:rPr lang="pt-BR" b="1" dirty="0"/>
              <a:t> Blog (Artigos sobre Testes e Qualidade):</a:t>
            </a:r>
            <a:r>
              <a:rPr lang="pt-BR" dirty="0"/>
              <a:t> https://</a:t>
            </a:r>
            <a:r>
              <a:rPr lang="pt-BR" dirty="0" err="1"/>
              <a:t>devblogs.microsoft.com</a:t>
            </a:r>
            <a:r>
              <a:rPr lang="pt-BR" dirty="0"/>
              <a:t>/devops/</a:t>
            </a:r>
            <a:r>
              <a:rPr lang="pt-BR" dirty="0" err="1"/>
              <a:t>category</a:t>
            </a:r>
            <a:r>
              <a:rPr lang="pt-BR" dirty="0"/>
              <a:t>/</a:t>
            </a:r>
            <a:r>
              <a:rPr lang="pt-BR" dirty="0" err="1"/>
              <a:t>testing</a:t>
            </a:r>
            <a:r>
              <a:rPr lang="pt-BR" dirty="0"/>
              <a:t>/</a:t>
            </a:r>
          </a:p>
          <a:p>
            <a:pPr>
              <a:buNone/>
            </a:pPr>
            <a:r>
              <a:rPr lang="pt-BR" b="1" dirty="0"/>
              <a:t>Azure </a:t>
            </a:r>
            <a:r>
              <a:rPr lang="pt-BR" b="1" dirty="0" err="1"/>
              <a:t>DevOps</a:t>
            </a:r>
            <a:r>
              <a:rPr lang="pt-BR" b="1" dirty="0"/>
              <a:t> </a:t>
            </a:r>
            <a:r>
              <a:rPr lang="pt-BR" b="1" dirty="0" err="1"/>
              <a:t>Documentation</a:t>
            </a:r>
            <a:r>
              <a:rPr lang="pt-BR" b="1" dirty="0"/>
              <a:t> - </a:t>
            </a:r>
            <a:r>
              <a:rPr lang="pt-BR" b="1" dirty="0" err="1"/>
              <a:t>Quality</a:t>
            </a:r>
            <a:r>
              <a:rPr lang="pt-BR" b="1" dirty="0"/>
              <a:t> </a:t>
            </a:r>
            <a:r>
              <a:rPr lang="pt-BR" b="1" dirty="0" err="1"/>
              <a:t>Assurance</a:t>
            </a:r>
            <a:r>
              <a:rPr lang="pt-BR" b="1" dirty="0"/>
              <a:t> </a:t>
            </a:r>
            <a:r>
              <a:rPr lang="pt-BR" b="1" dirty="0" err="1"/>
              <a:t>Practices</a:t>
            </a:r>
            <a:r>
              <a:rPr lang="pt-BR" b="1" dirty="0"/>
              <a:t>:</a:t>
            </a:r>
            <a:r>
              <a:rPr lang="pt-BR" dirty="0"/>
              <a:t> https://</a:t>
            </a:r>
            <a:r>
              <a:rPr lang="pt-BR" dirty="0" err="1"/>
              <a:t>docs.microsoft.com</a:t>
            </a:r>
            <a:r>
              <a:rPr lang="pt-BR" dirty="0"/>
              <a:t>/</a:t>
            </a:r>
            <a:r>
              <a:rPr lang="pt-BR" dirty="0" err="1"/>
              <a:t>en-us</a:t>
            </a:r>
            <a:r>
              <a:rPr lang="pt-BR" dirty="0"/>
              <a:t>/</a:t>
            </a:r>
            <a:r>
              <a:rPr lang="pt-BR" dirty="0" err="1"/>
              <a:t>azure</a:t>
            </a:r>
            <a:r>
              <a:rPr lang="pt-BR" dirty="0"/>
              <a:t>/devops/</a:t>
            </a:r>
            <a:r>
              <a:rPr lang="pt-BR" dirty="0" err="1"/>
              <a:t>learn</a:t>
            </a:r>
            <a:r>
              <a:rPr lang="pt-BR" dirty="0"/>
              <a:t>/</a:t>
            </a:r>
            <a:r>
              <a:rPr lang="pt-BR" dirty="0" err="1"/>
              <a:t>what</a:t>
            </a:r>
            <a:r>
              <a:rPr lang="pt-BR" dirty="0"/>
              <a:t>-</a:t>
            </a:r>
            <a:r>
              <a:rPr lang="pt-BR" dirty="0" err="1"/>
              <a:t>is</a:t>
            </a:r>
            <a:r>
              <a:rPr lang="pt-BR" dirty="0"/>
              <a:t>-</a:t>
            </a:r>
            <a:r>
              <a:rPr lang="pt-BR" dirty="0" err="1"/>
              <a:t>azure</a:t>
            </a:r>
            <a:r>
              <a:rPr lang="pt-BR" dirty="0"/>
              <a:t>-devops</a:t>
            </a:r>
          </a:p>
          <a:p>
            <a:pPr>
              <a:buNone/>
            </a:pPr>
            <a:r>
              <a:rPr lang="pt-BR" b="1" dirty="0"/>
              <a:t>Artigo sobre a transição da Microsoft (</a:t>
            </a:r>
            <a:r>
              <a:rPr lang="pt-BR" b="1" dirty="0" err="1"/>
              <a:t>How</a:t>
            </a:r>
            <a:r>
              <a:rPr lang="pt-BR" b="1" dirty="0"/>
              <a:t> Microsoft </a:t>
            </a:r>
            <a:r>
              <a:rPr lang="pt-BR" b="1" dirty="0" err="1"/>
              <a:t>Broke</a:t>
            </a:r>
            <a:r>
              <a:rPr lang="pt-BR" b="1" dirty="0"/>
              <a:t> </a:t>
            </a:r>
            <a:r>
              <a:rPr lang="pt-BR" b="1" dirty="0" err="1"/>
              <a:t>All</a:t>
            </a:r>
            <a:r>
              <a:rPr lang="pt-BR" b="1" dirty="0"/>
              <a:t> </a:t>
            </a:r>
            <a:r>
              <a:rPr lang="pt-BR" b="1" dirty="0" err="1"/>
              <a:t>the</a:t>
            </a:r>
            <a:r>
              <a:rPr lang="pt-BR" b="1" dirty="0"/>
              <a:t> </a:t>
            </a:r>
            <a:r>
              <a:rPr lang="pt-BR" b="1" dirty="0" err="1"/>
              <a:t>Rules</a:t>
            </a:r>
            <a:r>
              <a:rPr lang="pt-BR" b="1" dirty="0"/>
              <a:t> </a:t>
            </a:r>
            <a:r>
              <a:rPr lang="pt-BR" b="1" dirty="0" err="1"/>
              <a:t>of</a:t>
            </a:r>
            <a:r>
              <a:rPr lang="pt-BR" b="1" dirty="0"/>
              <a:t> </a:t>
            </a:r>
            <a:r>
              <a:rPr lang="pt-BR" b="1" dirty="0" err="1"/>
              <a:t>Testing</a:t>
            </a:r>
            <a:r>
              <a:rPr lang="pt-BR" b="1" dirty="0"/>
              <a:t>):</a:t>
            </a:r>
            <a:r>
              <a:rPr lang="pt-BR" dirty="0"/>
              <a:t> https://</a:t>
            </a:r>
            <a:r>
              <a:rPr lang="pt-BR" dirty="0" err="1"/>
              <a:t>www.techwell.com</a:t>
            </a:r>
            <a:r>
              <a:rPr lang="pt-BR" dirty="0"/>
              <a:t>/</a:t>
            </a:r>
            <a:r>
              <a:rPr lang="pt-BR" dirty="0" err="1"/>
              <a:t>techwell</a:t>
            </a:r>
            <a:r>
              <a:rPr lang="pt-BR" dirty="0"/>
              <a:t>-insights/2016/09/</a:t>
            </a:r>
            <a:r>
              <a:rPr lang="pt-BR" dirty="0" err="1"/>
              <a:t>how-microsoft-broke-all-rules-testing</a:t>
            </a:r>
            <a:endParaRPr lang="pt-BR" dirty="0"/>
          </a:p>
          <a:p>
            <a:pPr>
              <a:buNone/>
            </a:pPr>
            <a:r>
              <a:rPr lang="pt-BR" b="1" dirty="0" err="1"/>
              <a:t>TMMi</a:t>
            </a:r>
            <a:r>
              <a:rPr lang="pt-BR" b="1" dirty="0"/>
              <a:t> Foundation (Site Oficial para o Modelo Teórico):</a:t>
            </a:r>
            <a:r>
              <a:rPr lang="pt-BR" dirty="0"/>
              <a:t> https://</a:t>
            </a:r>
            <a:r>
              <a:rPr lang="pt-BR" dirty="0" err="1"/>
              <a:t>www.tmmi.org</a:t>
            </a:r>
            <a:r>
              <a:rPr lang="pt-BR" dirty="0"/>
              <a:t>/</a:t>
            </a:r>
          </a:p>
          <a:p>
            <a:r>
              <a:rPr lang="pt-BR" b="1" dirty="0"/>
              <a:t>Vídeo - The </a:t>
            </a:r>
            <a:r>
              <a:rPr lang="pt-BR" b="1" dirty="0" err="1"/>
              <a:t>journey</a:t>
            </a:r>
            <a:r>
              <a:rPr lang="pt-BR" b="1" dirty="0"/>
              <a:t> </a:t>
            </a:r>
            <a:r>
              <a:rPr lang="pt-BR" b="1" dirty="0" err="1"/>
              <a:t>to</a:t>
            </a:r>
            <a:r>
              <a:rPr lang="pt-BR" b="1" dirty="0"/>
              <a:t> </a:t>
            </a:r>
            <a:r>
              <a:rPr lang="pt-BR" b="1" dirty="0" err="1"/>
              <a:t>continuous</a:t>
            </a:r>
            <a:r>
              <a:rPr lang="pt-BR" b="1" dirty="0"/>
              <a:t> delivery </a:t>
            </a:r>
            <a:r>
              <a:rPr lang="pt-BR" b="1" dirty="0" err="1"/>
              <a:t>at</a:t>
            </a:r>
            <a:r>
              <a:rPr lang="pt-BR" b="1" dirty="0"/>
              <a:t> Microsoft (</a:t>
            </a:r>
            <a:r>
              <a:rPr lang="pt-BR" b="1" dirty="0" err="1"/>
              <a:t>Channel</a:t>
            </a:r>
            <a:r>
              <a:rPr lang="pt-BR" b="1" dirty="0"/>
              <a:t> 9):</a:t>
            </a:r>
            <a:r>
              <a:rPr lang="pt-BR" dirty="0"/>
              <a:t> https://channel9.msdn.com/</a:t>
            </a:r>
            <a:r>
              <a:rPr lang="pt-BR" dirty="0" err="1"/>
              <a:t>Events</a:t>
            </a:r>
            <a:r>
              <a:rPr lang="pt-BR" dirty="0"/>
              <a:t>/Build/2017/B8045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152751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C0CB9708-C445-4049-9D7F-4C8684E69AF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43</TotalTime>
  <Words>1289</Words>
  <Application>Microsoft Macintosh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 Light</vt:lpstr>
      <vt:lpstr>Rockwell</vt:lpstr>
      <vt:lpstr>Wingdings</vt:lpstr>
      <vt:lpstr>Atlas</vt:lpstr>
      <vt:lpstr>Aplicação do TMMi (Test Maturity Model Integration) em Empresas de Software </vt:lpstr>
      <vt:lpstr>Por que a Maturidade em Testes é Crucial para um Gigante Global? </vt:lpstr>
      <vt:lpstr>Entendendo o TMMi (Test Maturity Model Integration) </vt:lpstr>
      <vt:lpstr>O Caso Microsoft: Da Caixa ao Cloud </vt:lpstr>
      <vt:lpstr>Práticas de Teste na Microsoft: A Cultura "Shift-Left" </vt:lpstr>
      <vt:lpstr>Alinhamento: Como a Microsoft Reflete a Alta Maturidade TMMi </vt:lpstr>
      <vt:lpstr>Benefícios e Desafios na Escala da Microsoft </vt:lpstr>
      <vt:lpstr>Conclusão: Qualidade como Pilar da Confiança e Inovação </vt:lpstr>
      <vt:lpstr>Fontes Utilizadas na Pesquisa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Vinicius Meier Trevisan</dc:creator>
  <cp:lastModifiedBy>Vinicius Meier Trevisan</cp:lastModifiedBy>
  <cp:revision>5</cp:revision>
  <dcterms:created xsi:type="dcterms:W3CDTF">2025-08-11T23:01:58Z</dcterms:created>
  <dcterms:modified xsi:type="dcterms:W3CDTF">2025-08-11T23:45:24Z</dcterms:modified>
</cp:coreProperties>
</file>