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5" r:id="rId2"/>
    <p:sldId id="263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122" d="100"/>
          <a:sy n="122" d="100"/>
        </p:scale>
        <p:origin x="2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8C7C0-5E56-DD4C-8225-6B1E81B79EB4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9DF6D-837B-5A46-A628-5F97C21A9E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55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BD332-4A97-8E71-ECC8-AD2DCC47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DC76FC-91B3-BBAD-5FA1-09B71CC90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5FA0E4-BF37-8209-96D7-616A1F05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59C6B-9D2F-70A6-7D52-6408369D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C470C6-0E9B-8B2C-54A8-13CAE8F1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84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78318-A8E9-6ACE-3060-6CF0E2F9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9F362-481E-46C1-2BA0-389018A25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EB4FF8-5110-0E60-7115-F459C7F3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285D8-DD18-FB24-D770-39B5929D4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E73B9C-2010-6CA1-3E0F-AB4FAEF4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999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8104A-49FC-F61E-3E88-0CA3DDE2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D427AE-5500-A0C1-E835-76A607769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17A3F3-0DC4-FA1D-4475-EB611062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F5012A-C53D-9D26-AA87-9EAE3A3E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A8DDF4-DB4A-2F45-5462-2993C5D1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58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94874-58B4-AAB2-6386-E9596CAD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52DA79-B5EF-2434-E058-61D586473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0605E0-64FD-26F6-E5BB-BBC5A3F5F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7C91E6-F135-3E57-452E-4FDFA817F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6B4CFA-C1D3-CCDF-431F-B240F24E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992E2B-F7A8-B87D-0E14-0967EA9B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46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6E694-302A-88F4-69E5-4F666433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6AC5FB-2AD2-D361-ABD0-31B6176DF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1F9EBB-F589-84DA-4C0B-B72ADCC01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10C3F2-1C5F-5DCC-EF2C-102BD7636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E9B465-3169-839D-71D7-556F6A44D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7C54EE-1911-8796-D7AC-0DE1FA8B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551F45-6886-B3E6-4779-88B86546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477168-5C09-CA68-B79F-1DEA0952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225D5-8FCF-AC8C-F8A4-35AF5310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8CA0DE-E277-1905-724B-7C5DB3F8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159875-7341-1737-2089-646E3E7F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72D533-0D26-F10A-30C5-D8139E95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6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3B1C67-8A00-8270-CB09-4D51FF86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E2E120-9770-FE00-0B32-7D07C5216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268323-86E8-EDDE-BB73-0350FAB7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91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BF936-6BBE-3183-D99F-C848D33A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D3637F-BCE9-2329-0A12-74F06B080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5AFCD-2497-AB67-FA86-76D68E9A1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A76868-086B-A159-521C-25B38278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B4B8DE-4D5E-EEFB-ECFF-37917C83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880771-5990-D2AD-F053-24BC2778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72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8637C-4D04-4124-32D8-26F4D2DE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055F64-D4CA-E837-6BD1-E556CCE90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C61A79-422D-1BB4-0FAD-3D1FE7F61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ADFDA3-F019-8D6F-2EAA-C6785FB2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D18616-8BBD-459E-E426-6C1ED4F0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FD8147-BEBC-18D9-AE6B-53663361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62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B52F3-985C-014F-180E-F8B37548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CCF674-3C16-4169-661C-6E94EB8A7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9A7FC2-3A8E-AE6F-C241-0FDE68FA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92120E-A97F-F5F4-30BA-EE12C2EC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758772-F4E4-6BC9-AC21-54CE95DF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2A2FEF-F22A-B752-3488-007A82851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9BAFCE-E8C3-5F73-7918-1CAC99657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C39BC2-4020-ECA3-48D7-EB8F366C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E6076-918E-54E9-6601-108A8AA5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584829-0F25-FA54-2B7E-35D33677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72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DCA104-4439-E84C-1C40-1F98FA5C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4B8B33-19F3-A91C-0DEF-E6A7BFC8E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279118-2F3C-F307-7AAF-4AC271E9E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2C53A-2701-B34F-B19A-EB62F187879D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DD7F7A-5049-5220-48A4-C93DC699D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91F9FB-F7E6-0F16-728B-CA2F47551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6F6D6-99DB-774A-BF8F-58A324B82D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8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6EC20B-7A6C-B631-A150-77F9B115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História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953B0-DCD5-28FB-BEB7-EC367A443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sz="2000" dirty="0"/>
              <a:t>Guilherme Reis</a:t>
            </a:r>
          </a:p>
          <a:p>
            <a:r>
              <a:rPr lang="pt-BR" sz="2000" dirty="0"/>
              <a:t>Nicolas Lobo</a:t>
            </a:r>
          </a:p>
          <a:p>
            <a:r>
              <a:rPr lang="pt-BR" sz="2000" dirty="0"/>
              <a:t>Vinicius Trevisan</a:t>
            </a:r>
          </a:p>
        </p:txBody>
      </p:sp>
    </p:spTree>
    <p:extLst>
      <p:ext uri="{BB962C8B-B14F-4D97-AF65-F5344CB8AC3E}">
        <p14:creationId xmlns:p14="http://schemas.microsoft.com/office/powerpoint/2010/main" val="834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4D8B44-F5F4-D9DB-0497-AF64330B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Evolução da Qualidade Total Mundial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BE8AF5-96A6-5BF9-2353-A00E9E2E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315310"/>
            <a:ext cx="6555347" cy="6337738"/>
          </a:xfrm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1600" b="1" dirty="0"/>
              <a:t>1950: Era da Garantia da Qualidade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Nasceu no Japão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Foco na prevenção de problemas e no envolvimento de todos os funcionários e clientes.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Implementação de normas para controlar a qualidade desde o projeto até a produção.</a:t>
            </a:r>
          </a:p>
          <a:p>
            <a:pPr>
              <a:buNone/>
            </a:pPr>
            <a:r>
              <a:rPr lang="pt-BR" sz="1600" b="1" dirty="0"/>
              <a:t>1970: Início da Gestão da Qualidade Total (TQM)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A qualidade torna-se estratégica e sistêmica, integrando pessoas, processos e tecnologia.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O foco se desloca para a experiência do cliente e a garantia do produto/serviço.</a:t>
            </a:r>
          </a:p>
          <a:p>
            <a:pPr>
              <a:buNone/>
            </a:pPr>
            <a:r>
              <a:rPr lang="pt-BR" sz="1600" b="1" dirty="0"/>
              <a:t>Décadas Seguintes: Expansão Estratégica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Os conceitos de qualidade são ampliados para incorporar a gestão estratégica, a inovação e a competitividade global.</a:t>
            </a:r>
          </a:p>
          <a:p>
            <a:pPr>
              <a:buNone/>
            </a:pPr>
            <a:r>
              <a:rPr lang="pt-BR" sz="1600" b="1" dirty="0"/>
              <a:t>A partir de 2000: Qualidade 4.0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Uso intensivo de automação, análise de dados e sistemas inteligentes para atuação preventiva e ajuste de processos em tempo real.</a:t>
            </a:r>
          </a:p>
          <a:p>
            <a:pPr>
              <a:buNone/>
            </a:pPr>
            <a:r>
              <a:rPr lang="pt-BR" sz="1600" b="1" dirty="0"/>
              <a:t>Atual (2025): A 5ª Era da Qualidade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A inteligência artificial passa a prever falhas, permitindo ações antecipadas e transformando a gestão da qualidade em um processo totalmente integrado e automatizado.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6901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250BD3-254E-A70F-68BC-0D7C1EEC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Evolução da Qualidade Total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7BEB9-C4B7-044F-CCD0-5CD995E09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700" b="1" dirty="0"/>
              <a:t>1950-1970: Primeiros Passos</a:t>
            </a:r>
            <a:endParaRPr lang="pt-BR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Início lento, com foco predominante em inspeção e controle operacional limitado.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 dirty="0"/>
              <a:t>1990-2010: O Impulso do PBQP</a:t>
            </a:r>
            <a:endParaRPr lang="pt-BR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A evolução é acelerada pelo </a:t>
            </a:r>
            <a:r>
              <a:rPr lang="pt-BR" sz="1700" b="1" dirty="0"/>
              <a:t>Programa Brasileiro da Qualidade e Produtividade (PBQP)</a:t>
            </a:r>
            <a:r>
              <a:rPr lang="pt-BR" sz="17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Cresce o planejamento estratégico e a coleta de indicadores de qualidade nas empresas.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 dirty="0"/>
              <a:t>Pós-2010: Consolidação e Avanço</a:t>
            </a:r>
            <a:endParaRPr lang="pt-BR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Adoção crescente de práticas de gestão de qualidade total na indústria e em serviços.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Avanços significativos em normas e certificações.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700" b="1" dirty="0"/>
              <a:t>Atual (2025): Maturidade e Inovação</a:t>
            </a:r>
            <a:endParaRPr lang="pt-BR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A gestão estratégica da qualidade está consolidada no país.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O Brasil acompanha as tendências globais de automação e análise preditiva para garantir a melhoria contínua.</a:t>
            </a:r>
          </a:p>
          <a:p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333900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BD4460-9828-350D-6A30-24362CB60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dirty="0">
                <a:solidFill>
                  <a:srgbClr val="FFFFFF"/>
                </a:solidFill>
              </a:rPr>
              <a:t>Qualidade de software Mundial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B6425-2545-6350-5976-B92C278CA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pt-BR" sz="1700" b="1"/>
              <a:t>Pré-1990: Abordagem Informal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A qualidade era garantida principalmente por testes e correções pontuais após a identificação de falhas.</a:t>
            </a:r>
          </a:p>
          <a:p>
            <a:pPr>
              <a:buNone/>
            </a:pPr>
            <a:r>
              <a:rPr lang="pt-BR" sz="1700" b="1"/>
              <a:t>1990-2000: Padronização e Modelos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Consolidação de normas e modelos formais como a </a:t>
            </a:r>
            <a:r>
              <a:rPr lang="pt-BR" sz="1700" b="1"/>
              <a:t>ISO 9000</a:t>
            </a:r>
            <a:r>
              <a:rPr lang="pt-BR" sz="1700"/>
              <a:t> e o </a:t>
            </a:r>
            <a:r>
              <a:rPr lang="pt-BR" sz="1700" b="1"/>
              <a:t>CMM (Capability Maturity Model)</a:t>
            </a:r>
            <a:r>
              <a:rPr lang="pt-BR" sz="1700"/>
              <a:t>.</a:t>
            </a:r>
          </a:p>
          <a:p>
            <a:pPr>
              <a:buNone/>
            </a:pPr>
            <a:r>
              <a:rPr lang="pt-BR" sz="1700" b="1"/>
              <a:t>2000-2010: A Era Ágil e Contínua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Expansão das metodologias ágeis e da prática de testes contínuos integrados ao desenvolvimento.</a:t>
            </a:r>
          </a:p>
          <a:p>
            <a:pPr>
              <a:buNone/>
            </a:pPr>
            <a:r>
              <a:rPr lang="pt-BR" sz="1700" b="1"/>
              <a:t>Pós-2010: DevOps e Automação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Uso intensivo de </a:t>
            </a:r>
            <a:r>
              <a:rPr lang="pt-BR" sz="1700" b="1"/>
              <a:t>DevOps</a:t>
            </a:r>
            <a:r>
              <a:rPr lang="pt-BR" sz="1700"/>
              <a:t>, automação de testes e monitoramento em tempo real para garantir a estabilidade e performance.</a:t>
            </a:r>
          </a:p>
          <a:p>
            <a:pPr>
              <a:buNone/>
            </a:pPr>
            <a:r>
              <a:rPr lang="pt-BR" sz="1700" b="1"/>
              <a:t>Atual (2025): Cultura Preditiva</a:t>
            </a:r>
            <a:endParaRPr lang="pt-BR" sz="1700"/>
          </a:p>
          <a:p>
            <a:pPr>
              <a:buFont typeface="Arial" panose="020B0604020202020204" pitchFamily="34" charset="0"/>
              <a:buChar char="•"/>
            </a:pPr>
            <a:r>
              <a:rPr lang="pt-BR" sz="1700"/>
              <a:t>A qualidade é um pilar da cultura DevOps e da </a:t>
            </a:r>
            <a:r>
              <a:rPr lang="pt-BR" sz="1700" b="1"/>
              <a:t>Qualidade 4.0</a:t>
            </a:r>
            <a:r>
              <a:rPr lang="pt-BR" sz="1700"/>
              <a:t>, com uso de inteligência artificial para prever e prevenir falhas antes que ocorram.</a:t>
            </a:r>
          </a:p>
          <a:p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61364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CE2FEE-359D-B705-1F57-06D0013D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dirty="0">
                <a:solidFill>
                  <a:srgbClr val="FFFFFF"/>
                </a:solidFill>
              </a:rPr>
              <a:t>Qualidade de Software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2CEF0-29EF-AA06-A65A-96AB870A1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900" b="1">
                <a:effectLst/>
              </a:rPr>
              <a:t>1994: O Ponto de Partida</a:t>
            </a:r>
            <a:endParaRPr lang="pt-BR" sz="190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Início dos acompanhamentos sistemáticos da qualidade de software, liderados por pesquisas do </a:t>
            </a:r>
            <a:r>
              <a:rPr lang="pt-BR" sz="1900" b="1">
                <a:effectLst/>
              </a:rPr>
              <a:t>PBQP Software</a:t>
            </a:r>
            <a:r>
              <a:rPr lang="pt-BR" sz="1900">
                <a:effectLst/>
              </a:rPr>
              <a:t>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900" b="1">
                <a:effectLst/>
              </a:rPr>
              <a:t>1994-2010: Crescimento e Formalização</a:t>
            </a:r>
            <a:endParaRPr lang="pt-BR" sz="190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Melhora gradual no planejamento estratégico, na coleta de indicadores e na exigência de certificações.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Crescimento da adoção de práticas formais de qualidade.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900" b="1">
                <a:effectLst/>
              </a:rPr>
              <a:t>Anos 2000: Expansão de Mercado</a:t>
            </a:r>
            <a:endParaRPr lang="pt-BR" sz="190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Fortalecimento do mercado interno de software e início do foco em desenvolvimento para a internet.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900" b="1">
                <a:effectLst/>
              </a:rPr>
              <a:t>Pós-2010 até 2025: Alinhamento Global</a:t>
            </a:r>
            <a:endParaRPr lang="pt-BR" sz="190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Continuidade na maturação da qualidade no software brasileiro.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pt-BR" sz="1900">
                <a:effectLst/>
              </a:rPr>
              <a:t>Adoção de normas internacionais e integração de práticas modernas, acompanhando as principais tendências globais do setor.</a:t>
            </a:r>
          </a:p>
          <a:p>
            <a:endParaRPr lang="pt-BR" sz="1900"/>
          </a:p>
        </p:txBody>
      </p:sp>
    </p:spTree>
    <p:extLst>
      <p:ext uri="{BB962C8B-B14F-4D97-AF65-F5344CB8AC3E}">
        <p14:creationId xmlns:p14="http://schemas.microsoft.com/office/powerpoint/2010/main" val="4068735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537</Words>
  <Application>Microsoft Macintosh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História da Qualidade</vt:lpstr>
      <vt:lpstr>Evolução da Qualidade Total Mundial</vt:lpstr>
      <vt:lpstr>Evolução da Qualidade Total Brasil</vt:lpstr>
      <vt:lpstr>Qualidade de software Mundial</vt:lpstr>
      <vt:lpstr>Qualidade de Software no Brasil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Meier Trevisan</dc:creator>
  <cp:lastModifiedBy>Vinicius Meier Trevisan</cp:lastModifiedBy>
  <cp:revision>4</cp:revision>
  <dcterms:created xsi:type="dcterms:W3CDTF">2025-08-05T00:24:52Z</dcterms:created>
  <dcterms:modified xsi:type="dcterms:W3CDTF">2025-08-05T00:53:13Z</dcterms:modified>
</cp:coreProperties>
</file>